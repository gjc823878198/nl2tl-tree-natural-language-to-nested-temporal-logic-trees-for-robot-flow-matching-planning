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4630400" cy="8047038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731520" y="1882800"/>
            <a:ext cx="13167000" cy="46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13167000" cy="46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6425280" cy="46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7478280" y="1882800"/>
            <a:ext cx="6425280" cy="46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731520" y="320760"/>
            <a:ext cx="13167000" cy="622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882800"/>
            <a:ext cx="6425280" cy="46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/>
          </p:nvPr>
        </p:nvSpPr>
        <p:spPr>
          <a:xfrm>
            <a:off x="731520" y="432036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6425280" cy="46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7478280" y="188280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7478280" y="432036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7478280" y="188280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731520" y="4320360"/>
            <a:ext cx="1316700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1316700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731520" y="4320360"/>
            <a:ext cx="1316700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7478280" y="188280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731520" y="432036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/>
          </p:nvPr>
        </p:nvSpPr>
        <p:spPr>
          <a:xfrm>
            <a:off x="7478280" y="4320360"/>
            <a:ext cx="642528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0760"/>
            <a:ext cx="1316700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882800"/>
            <a:ext cx="423936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83280" y="1882800"/>
            <a:ext cx="423936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635040" y="1882800"/>
            <a:ext cx="423936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31520" y="4320360"/>
            <a:ext cx="423936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/>
          </p:nvPr>
        </p:nvSpPr>
        <p:spPr>
          <a:xfrm>
            <a:off x="5183280" y="4320360"/>
            <a:ext cx="423936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/>
          </p:nvPr>
        </p:nvSpPr>
        <p:spPr>
          <a:xfrm>
            <a:off x="9635040" y="4320360"/>
            <a:ext cx="4239360" cy="22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p2"/>
          <p:cNvSpPr/>
          <p:nvPr/>
        </p:nvSpPr>
        <p:spPr>
          <a:xfrm>
            <a:off x="2505600" y="2002680"/>
            <a:ext cx="9291240" cy="215028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 w="17780">
            <a:solidFill>
              <a:srgbClr val="9bb8d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" name="sp3"/>
          <p:cNvSpPr/>
          <p:nvPr/>
        </p:nvSpPr>
        <p:spPr>
          <a:xfrm>
            <a:off x="8071920" y="675720"/>
            <a:ext cx="6320160" cy="1004400"/>
          </a:xfrm>
          <a:prstGeom prst="roundRect">
            <a:avLst>
              <a:gd name="adj" fmla="val 9000"/>
            </a:avLst>
          </a:prstGeom>
          <a:solidFill>
            <a:srgbClr val="ededf3"/>
          </a:solidFill>
          <a:ln w="17780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" name="sp4"/>
          <p:cNvSpPr/>
          <p:nvPr/>
        </p:nvSpPr>
        <p:spPr>
          <a:xfrm>
            <a:off x="180720" y="669240"/>
            <a:ext cx="1985400" cy="2682000"/>
          </a:xfrm>
          <a:prstGeom prst="roundRect">
            <a:avLst>
              <a:gd name="adj" fmla="val 9000"/>
            </a:avLst>
          </a:prstGeom>
          <a:solidFill>
            <a:srgbClr val="e7efe4"/>
          </a:solidFill>
          <a:ln w="17780">
            <a:solidFill>
              <a:srgbClr val="4a7a5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" name="sp5"/>
          <p:cNvSpPr/>
          <p:nvPr/>
        </p:nvSpPr>
        <p:spPr>
          <a:xfrm>
            <a:off x="12304800" y="2011680"/>
            <a:ext cx="2085120" cy="3490200"/>
          </a:xfrm>
          <a:prstGeom prst="roundRect">
            <a:avLst>
              <a:gd name="adj" fmla="val 9000"/>
            </a:avLst>
          </a:prstGeom>
          <a:solidFill>
            <a:srgbClr val="f3e7df"/>
          </a:solidFill>
          <a:ln w="17780">
            <a:solidFill>
              <a:srgbClr val="b07a3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sp6"/>
          <p:cNvSpPr/>
          <p:nvPr/>
        </p:nvSpPr>
        <p:spPr>
          <a:xfrm>
            <a:off x="3604320" y="4489920"/>
            <a:ext cx="4514040" cy="1004400"/>
          </a:xfrm>
          <a:prstGeom prst="roundRect">
            <a:avLst>
              <a:gd name="adj" fmla="val 9000"/>
            </a:avLst>
          </a:prstGeom>
          <a:solidFill>
            <a:srgbClr val="dff0ec"/>
          </a:solidFill>
          <a:ln w="17780">
            <a:solidFill>
              <a:srgbClr val="2a8a7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sp7"/>
          <p:cNvSpPr/>
          <p:nvPr/>
        </p:nvSpPr>
        <p:spPr>
          <a:xfrm>
            <a:off x="8556840" y="4482000"/>
            <a:ext cx="3430440" cy="1004400"/>
          </a:xfrm>
          <a:prstGeom prst="roundRect">
            <a:avLst>
              <a:gd name="adj" fmla="val 9000"/>
            </a:avLst>
          </a:prstGeom>
          <a:solidFill>
            <a:srgbClr val="dff0ec"/>
          </a:solidFill>
          <a:ln w="17780">
            <a:solidFill>
              <a:srgbClr val="2a8a7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sp8"/>
          <p:cNvSpPr/>
          <p:nvPr/>
        </p:nvSpPr>
        <p:spPr>
          <a:xfrm>
            <a:off x="2709360" y="2095560"/>
            <a:ext cx="2346480" cy="1088280"/>
          </a:xfrm>
          <a:prstGeom prst="roundRect">
            <a:avLst>
              <a:gd name="adj" fmla="val 9000"/>
            </a:avLst>
          </a:prstGeom>
          <a:solidFill>
            <a:srgbClr val="dfe9f5"/>
          </a:solidFill>
          <a:ln w="17780">
            <a:solidFill>
              <a:srgbClr val="2c3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(1) Frozen LLM parse</a:t>
            </a:r>
            <a:endParaRPr b="0" lang="en-US" sz="1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→ </a:t>
            </a:r>
            <a:r>
              <a:rPr b="1" lang="en-US" sz="12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nested STL tree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3" name="sp9"/>
          <p:cNvSpPr/>
          <p:nvPr/>
        </p:nvSpPr>
        <p:spPr>
          <a:xfrm>
            <a:off x="2664000" y="3285720"/>
            <a:ext cx="2436840" cy="803160"/>
          </a:xfrm>
          <a:prstGeom prst="roundRect">
            <a:avLst>
              <a:gd name="adj" fmla="val 9000"/>
            </a:avLst>
          </a:prstGeom>
          <a:solidFill>
            <a:srgbClr val="fff4d6"/>
          </a:solidFill>
          <a:ln w="1778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sp10"/>
          <p:cNvSpPr/>
          <p:nvPr/>
        </p:nvSpPr>
        <p:spPr>
          <a:xfrm>
            <a:off x="5418720" y="2095560"/>
            <a:ext cx="2075760" cy="1088280"/>
          </a:xfrm>
          <a:prstGeom prst="roundRect">
            <a:avLst>
              <a:gd name="adj" fmla="val 9000"/>
            </a:avLst>
          </a:prstGeom>
          <a:solidFill>
            <a:srgbClr val="dfe9f5"/>
          </a:solidFill>
          <a:ln w="17780">
            <a:solidFill>
              <a:srgbClr val="2c3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(2) Render robustness</a:t>
            </a:r>
            <a:endParaRPr b="0" lang="en-US" sz="1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STL φ, diff. ρ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5" name="sp11"/>
          <p:cNvSpPr/>
          <p:nvPr/>
        </p:nvSpPr>
        <p:spPr>
          <a:xfrm>
            <a:off x="5373360" y="3285720"/>
            <a:ext cx="2166120" cy="585360"/>
          </a:xfrm>
          <a:prstGeom prst="roundRect">
            <a:avLst>
              <a:gd name="adj" fmla="val 9000"/>
            </a:avLst>
          </a:prstGeom>
          <a:solidFill>
            <a:srgbClr val="fff4d6"/>
          </a:solidFill>
          <a:ln w="1778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p12"/>
          <p:cNvSpPr/>
          <p:nvPr/>
        </p:nvSpPr>
        <p:spPr>
          <a:xfrm>
            <a:off x="7857000" y="2095560"/>
            <a:ext cx="3791520" cy="1088280"/>
          </a:xfrm>
          <a:prstGeom prst="roundRect">
            <a:avLst>
              <a:gd name="adj" fmla="val 9000"/>
            </a:avLst>
          </a:prstGeom>
          <a:solidFill>
            <a:srgbClr val="dfe9f5"/>
          </a:solidFill>
          <a:ln w="17780">
            <a:solidFill>
              <a:srgbClr val="2c3e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p13"/>
          <p:cNvSpPr/>
          <p:nvPr/>
        </p:nvSpPr>
        <p:spPr>
          <a:xfrm>
            <a:off x="8037720" y="2522880"/>
            <a:ext cx="856440" cy="442800"/>
          </a:xfrm>
          <a:prstGeom prst="roundRect">
            <a:avLst>
              <a:gd name="adj" fmla="val 9000"/>
            </a:avLst>
          </a:prstGeom>
          <a:solidFill>
            <a:srgbClr val="d7e3f2"/>
          </a:solidFill>
          <a:ln w="17780">
            <a:solidFill>
              <a:srgbClr val="2c3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920" spc="-1" strike="noStrike">
                <a:solidFill>
                  <a:srgbClr val="16213a"/>
                </a:solidFill>
                <a:latin typeface="Times New Roman"/>
                <a:ea typeface="DejaVu Sans"/>
              </a:rPr>
              <a:t>GNN</a:t>
            </a:r>
            <a:endParaRPr b="0" lang="en-US" sz="9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920" spc="-1" strike="noStrike">
                <a:solidFill>
                  <a:srgbClr val="16213a"/>
                </a:solidFill>
                <a:latin typeface="Times New Roman"/>
                <a:ea typeface="DejaVu Sans"/>
              </a:rPr>
              <a:t>encoder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48" name="sp14"/>
          <p:cNvSpPr/>
          <p:nvPr/>
        </p:nvSpPr>
        <p:spPr>
          <a:xfrm>
            <a:off x="8579520" y="3285720"/>
            <a:ext cx="2888640" cy="585360"/>
          </a:xfrm>
          <a:prstGeom prst="roundRect">
            <a:avLst>
              <a:gd name="adj" fmla="val 9000"/>
            </a:avLst>
          </a:prstGeom>
          <a:solidFill>
            <a:srgbClr val="fff4d6"/>
          </a:solidFill>
          <a:ln w="1778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p15"/>
          <p:cNvSpPr/>
          <p:nvPr/>
        </p:nvSpPr>
        <p:spPr>
          <a:xfrm>
            <a:off x="9211680" y="2581560"/>
            <a:ext cx="359640" cy="333720"/>
          </a:xfrm>
          <a:prstGeom prst="ellipse">
            <a:avLst/>
          </a:prstGeom>
          <a:solidFill>
            <a:srgbClr val="cfe0d2"/>
          </a:solidFill>
          <a:ln w="13970">
            <a:solidFill>
              <a:srgbClr val="1e7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x</a:t>
            </a:r>
            <a:r>
              <a:rPr b="1" i="1" lang="en-US" sz="700" spc="-1" strike="noStrike" baseline="-25000">
                <a:solidFill>
                  <a:srgbClr val="16213a"/>
                </a:solidFill>
                <a:latin typeface="Times New Roman"/>
                <a:ea typeface="DejaVu Sans"/>
              </a:rPr>
              <a:t>T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50" name="sp16"/>
          <p:cNvSpPr/>
          <p:nvPr/>
        </p:nvSpPr>
        <p:spPr>
          <a:xfrm>
            <a:off x="9753480" y="2581560"/>
            <a:ext cx="359640" cy="333720"/>
          </a:xfrm>
          <a:prstGeom prst="ellipse">
            <a:avLst/>
          </a:prstGeom>
          <a:solidFill>
            <a:srgbClr val="cfe0d2"/>
          </a:solidFill>
          <a:ln w="13970">
            <a:solidFill>
              <a:srgbClr val="1e7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x</a:t>
            </a:r>
            <a:r>
              <a:rPr b="1" i="1" lang="en-US" sz="700" spc="-1" strike="noStrike" baseline="-25000">
                <a:solidFill>
                  <a:srgbClr val="16213a"/>
                </a:solidFill>
                <a:latin typeface="Times New Roman"/>
                <a:ea typeface="DejaVu Sans"/>
              </a:rPr>
              <a:t>t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51" name="sp17"/>
          <p:cNvSpPr/>
          <p:nvPr/>
        </p:nvSpPr>
        <p:spPr>
          <a:xfrm>
            <a:off x="10295640" y="2581560"/>
            <a:ext cx="359640" cy="333720"/>
          </a:xfrm>
          <a:prstGeom prst="ellipse">
            <a:avLst/>
          </a:prstGeom>
          <a:solidFill>
            <a:srgbClr val="cfe0d2"/>
          </a:solidFill>
          <a:ln w="13970">
            <a:solidFill>
              <a:srgbClr val="1e7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⋯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2" name="sp18"/>
          <p:cNvSpPr/>
          <p:nvPr/>
        </p:nvSpPr>
        <p:spPr>
          <a:xfrm>
            <a:off x="10837440" y="2581560"/>
            <a:ext cx="359640" cy="333720"/>
          </a:xfrm>
          <a:prstGeom prst="ellipse">
            <a:avLst/>
          </a:prstGeom>
          <a:solidFill>
            <a:srgbClr val="cfe0d2"/>
          </a:solidFill>
          <a:ln w="13970">
            <a:solidFill>
              <a:srgbClr val="1e7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x</a:t>
            </a:r>
            <a:r>
              <a:rPr b="1" i="1" lang="en-US" sz="700" spc="-1" strike="noStrike" baseline="-25000">
                <a:solidFill>
                  <a:srgbClr val="16213a"/>
                </a:solidFill>
                <a:latin typeface="Times New Roman"/>
                <a:ea typeface="DejaVu Sans"/>
              </a:rPr>
              <a:t>0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53" name="sp19"/>
          <p:cNvSpPr/>
          <p:nvPr/>
        </p:nvSpPr>
        <p:spPr>
          <a:xfrm>
            <a:off x="11212200" y="4746600"/>
            <a:ext cx="585720" cy="543240"/>
          </a:xfrm>
          <a:prstGeom prst="roundRect">
            <a:avLst>
              <a:gd name="adj" fmla="val 9000"/>
            </a:avLst>
          </a:prstGeom>
          <a:solidFill>
            <a:srgbClr val="fbe2df"/>
          </a:solidFill>
          <a:ln w="17780">
            <a:solidFill>
              <a:srgbClr val="b03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A*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" name="cxn20"/>
          <p:cNvSpPr/>
          <p:nvPr/>
        </p:nvSpPr>
        <p:spPr>
          <a:xfrm>
            <a:off x="2167200" y="2682000"/>
            <a:ext cx="541800" cy="360"/>
          </a:xfrm>
          <a:prstGeom prst="line">
            <a:avLst/>
          </a:prstGeom>
          <a:ln cap="rnd" w="24130">
            <a:solidFill>
              <a:srgbClr val="2c3e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xn21"/>
          <p:cNvSpPr/>
          <p:nvPr/>
        </p:nvSpPr>
        <p:spPr>
          <a:xfrm>
            <a:off x="5057280" y="2682000"/>
            <a:ext cx="361080" cy="360"/>
          </a:xfrm>
          <a:prstGeom prst="line">
            <a:avLst/>
          </a:prstGeom>
          <a:ln cap="rnd" w="24130">
            <a:solidFill>
              <a:srgbClr val="2c3e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cxn22"/>
          <p:cNvSpPr/>
          <p:nvPr/>
        </p:nvSpPr>
        <p:spPr>
          <a:xfrm>
            <a:off x="7495560" y="2682000"/>
            <a:ext cx="361440" cy="360"/>
          </a:xfrm>
          <a:prstGeom prst="line">
            <a:avLst/>
          </a:prstGeom>
          <a:ln cap="rnd" w="24130">
            <a:solidFill>
              <a:srgbClr val="2c3e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xn23"/>
          <p:cNvSpPr/>
          <p:nvPr/>
        </p:nvSpPr>
        <p:spPr>
          <a:xfrm>
            <a:off x="11649960" y="2682000"/>
            <a:ext cx="654840" cy="360"/>
          </a:xfrm>
          <a:prstGeom prst="line">
            <a:avLst/>
          </a:prstGeom>
          <a:ln cap="rnd" w="24130">
            <a:solidFill>
              <a:srgbClr val="2c3e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cxn24"/>
          <p:cNvSpPr/>
          <p:nvPr/>
        </p:nvSpPr>
        <p:spPr>
          <a:xfrm>
            <a:off x="8940600" y="2748960"/>
            <a:ext cx="271080" cy="360"/>
          </a:xfrm>
          <a:prstGeom prst="line">
            <a:avLst/>
          </a:prstGeom>
          <a:ln cap="rnd" w="13970">
            <a:solidFill>
              <a:srgbClr val="2c3e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xn25"/>
          <p:cNvSpPr/>
          <p:nvPr/>
        </p:nvSpPr>
        <p:spPr>
          <a:xfrm>
            <a:off x="9572760" y="2748960"/>
            <a:ext cx="180720" cy="360"/>
          </a:xfrm>
          <a:prstGeom prst="line">
            <a:avLst/>
          </a:prstGeom>
          <a:ln cap="rnd" w="13970">
            <a:solidFill>
              <a:srgbClr val="1e7a4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cxn26"/>
          <p:cNvSpPr/>
          <p:nvPr/>
        </p:nvSpPr>
        <p:spPr>
          <a:xfrm>
            <a:off x="10114560" y="2748960"/>
            <a:ext cx="180720" cy="360"/>
          </a:xfrm>
          <a:prstGeom prst="line">
            <a:avLst/>
          </a:prstGeom>
          <a:ln cap="rnd" w="13970">
            <a:solidFill>
              <a:srgbClr val="1e7a4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xn27"/>
          <p:cNvSpPr/>
          <p:nvPr/>
        </p:nvSpPr>
        <p:spPr>
          <a:xfrm>
            <a:off x="10656360" y="2748960"/>
            <a:ext cx="180720" cy="360"/>
          </a:xfrm>
          <a:prstGeom prst="line">
            <a:avLst/>
          </a:prstGeom>
          <a:ln cap="rnd" w="13970">
            <a:solidFill>
              <a:srgbClr val="1e7a4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cxn28"/>
          <p:cNvSpPr/>
          <p:nvPr/>
        </p:nvSpPr>
        <p:spPr>
          <a:xfrm>
            <a:off x="5861880" y="3867480"/>
            <a:ext cx="360" cy="622440"/>
          </a:xfrm>
          <a:prstGeom prst="line">
            <a:avLst/>
          </a:prstGeom>
          <a:ln cap="rnd" w="20320">
            <a:solidFill>
              <a:srgbClr val="2a8a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cxn29"/>
          <p:cNvSpPr/>
          <p:nvPr/>
        </p:nvSpPr>
        <p:spPr>
          <a:xfrm>
            <a:off x="10024200" y="3872160"/>
            <a:ext cx="360" cy="609840"/>
          </a:xfrm>
          <a:prstGeom prst="line">
            <a:avLst/>
          </a:prstGeom>
          <a:ln cap="rnd" w="20320">
            <a:solidFill>
              <a:srgbClr val="2a8a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cxn30"/>
          <p:cNvSpPr/>
          <p:nvPr/>
        </p:nvSpPr>
        <p:spPr>
          <a:xfrm flipV="1">
            <a:off x="11659680" y="3757320"/>
            <a:ext cx="645120" cy="978480"/>
          </a:xfrm>
          <a:prstGeom prst="line">
            <a:avLst/>
          </a:prstGeom>
          <a:ln cap="rnd" w="22860">
            <a:solidFill>
              <a:srgbClr val="b03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xn31"/>
          <p:cNvSpPr/>
          <p:nvPr/>
        </p:nvSpPr>
        <p:spPr>
          <a:xfrm flipH="1" flipV="1">
            <a:off x="902880" y="3352680"/>
            <a:ext cx="2701080" cy="1640160"/>
          </a:xfrm>
          <a:prstGeom prst="line">
            <a:avLst/>
          </a:prstGeom>
          <a:ln cap="rnd" w="30480">
            <a:solidFill>
              <a:srgbClr val="7a4db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xn32"/>
          <p:cNvSpPr/>
          <p:nvPr/>
        </p:nvSpPr>
        <p:spPr>
          <a:xfrm flipV="1">
            <a:off x="13348080" y="1695240"/>
            <a:ext cx="360" cy="316440"/>
          </a:xfrm>
          <a:prstGeom prst="line">
            <a:avLst/>
          </a:prstGeom>
          <a:ln cap="rnd" w="22860">
            <a:solidFill>
              <a:srgbClr val="5b5b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xn33"/>
          <p:cNvSpPr/>
          <p:nvPr/>
        </p:nvSpPr>
        <p:spPr>
          <a:xfrm>
            <a:off x="9167760" y="1674720"/>
            <a:ext cx="360" cy="336240"/>
          </a:xfrm>
          <a:prstGeom prst="line">
            <a:avLst/>
          </a:prstGeom>
          <a:ln cap="rnd" w="22860">
            <a:solidFill>
              <a:srgbClr val="5b5b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p34"/>
          <p:cNvSpPr/>
          <p:nvPr/>
        </p:nvSpPr>
        <p:spPr>
          <a:xfrm>
            <a:off x="180720" y="123480"/>
            <a:ext cx="143848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c3e6b"/>
                </a:solidFill>
                <a:latin typeface="Times New Roman"/>
                <a:ea typeface="DejaVu Sans"/>
              </a:rPr>
              <a:t>NL2TL-Tree: Natural Language to Robot Trajectory Pipeline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9" name="sp35"/>
          <p:cNvSpPr/>
          <p:nvPr/>
        </p:nvSpPr>
        <p:spPr>
          <a:xfrm>
            <a:off x="4602600" y="1702800"/>
            <a:ext cx="5118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2c3e6b"/>
                </a:solidFill>
                <a:latin typeface="Times New Roman"/>
                <a:ea typeface="DejaVu Sans"/>
              </a:rPr>
              <a:t>Training-free pipeline  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0" name="sp36"/>
          <p:cNvSpPr/>
          <p:nvPr/>
        </p:nvSpPr>
        <p:spPr>
          <a:xfrm>
            <a:off x="219960" y="740520"/>
            <a:ext cx="192888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Natural-language</a:t>
            </a:r>
            <a:endParaRPr b="0" lang="en-US" sz="1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task  (smart devices)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1" name="sp37"/>
          <p:cNvSpPr/>
          <p:nvPr/>
        </p:nvSpPr>
        <p:spPr>
          <a:xfrm>
            <a:off x="334440" y="2896560"/>
            <a:ext cx="167760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33513a"/>
                </a:solidFill>
                <a:latin typeface="Times New Roman"/>
                <a:ea typeface="DejaVu Sans"/>
              </a:rPr>
              <a:t>“</a:t>
            </a:r>
            <a:r>
              <a:rPr b="1" i="1" lang="en-US" sz="1000" spc="-1" strike="noStrike">
                <a:solidFill>
                  <a:srgbClr val="33513a"/>
                </a:solidFill>
                <a:latin typeface="Times New Roman"/>
                <a:ea typeface="DejaVu Sans"/>
              </a:rPr>
              <a:t>visit A, then B;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33513a"/>
                </a:solidFill>
                <a:latin typeface="Times New Roman"/>
                <a:ea typeface="DejaVu Sans"/>
              </a:rPr>
              <a:t>always keep safe”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2" name="sp39"/>
          <p:cNvSpPr/>
          <p:nvPr/>
        </p:nvSpPr>
        <p:spPr>
          <a:xfrm>
            <a:off x="7891560" y="2161080"/>
            <a:ext cx="37227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(3) Flow-matching planner (TeLoGraF)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3" name="sp40"/>
          <p:cNvSpPr/>
          <p:nvPr/>
        </p:nvSpPr>
        <p:spPr>
          <a:xfrm>
            <a:off x="8740800" y="2919600"/>
            <a:ext cx="290808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flow sampling + STLCG ∇ρ guidance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4" name="sp41"/>
          <p:cNvSpPr/>
          <p:nvPr/>
        </p:nvSpPr>
        <p:spPr>
          <a:xfrm>
            <a:off x="12879720" y="2295720"/>
            <a:ext cx="8812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7a4d1c"/>
                </a:solidFill>
                <a:latin typeface="Times New Roman"/>
                <a:ea typeface="DejaVu Sans"/>
              </a:rPr>
              <a:t>Output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5" name="sp42"/>
          <p:cNvSpPr/>
          <p:nvPr/>
        </p:nvSpPr>
        <p:spPr>
          <a:xfrm>
            <a:off x="12146040" y="2646360"/>
            <a:ext cx="234792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STL-satisfying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trajectory τ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213a"/>
                </a:solidFill>
                <a:latin typeface="Times New Roman"/>
                <a:ea typeface="DejaVu Sans"/>
              </a:rPr>
              <a:t>ρ(G¬unsafe)&gt;0 (certified)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6" name="sp43"/>
          <p:cNvSpPr/>
          <p:nvPr/>
        </p:nvSpPr>
        <p:spPr>
          <a:xfrm>
            <a:off x="3780360" y="4132440"/>
            <a:ext cx="25574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a8a7a"/>
                </a:solidFill>
                <a:latin typeface="Times New Roman"/>
                <a:ea typeface="DejaVu Sans"/>
              </a:rPr>
              <a:t>Checks + user feedback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" name="sp44"/>
          <p:cNvSpPr/>
          <p:nvPr/>
        </p:nvSpPr>
        <p:spPr>
          <a:xfrm>
            <a:off x="3660480" y="4593240"/>
            <a:ext cx="44017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115555"/>
                </a:solidFill>
                <a:latin typeface="Times New Roman"/>
                <a:ea typeface="DejaVu Sans"/>
              </a:rPr>
              <a:t>Pre-flight feasibility gauge  (A* + dynamics)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sp45"/>
          <p:cNvSpPr/>
          <p:nvPr/>
        </p:nvSpPr>
        <p:spPr>
          <a:xfrm>
            <a:off x="3321000" y="4998960"/>
            <a:ext cx="508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A* path × clutter + predicted planning latency  vs. deadline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⇒ </a:t>
            </a: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completability:  likely / tight / unlikely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9" name="sp46"/>
          <p:cNvSpPr/>
          <p:nvPr/>
        </p:nvSpPr>
        <p:spPr>
          <a:xfrm>
            <a:off x="9223920" y="4584960"/>
            <a:ext cx="209664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115555"/>
                </a:solidFill>
                <a:latin typeface="Times New Roman"/>
                <a:ea typeface="DejaVu Sans"/>
              </a:rPr>
              <a:t>Best-of-N self-check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sp47"/>
          <p:cNvSpPr/>
          <p:nvPr/>
        </p:nvSpPr>
        <p:spPr>
          <a:xfrm>
            <a:off x="9130320" y="4991040"/>
            <a:ext cx="21034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reach-shortfall &gt; τ ?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→ </a:t>
            </a: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visualize why + defer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1" name="sp48"/>
          <p:cNvSpPr/>
          <p:nvPr/>
        </p:nvSpPr>
        <p:spPr>
          <a:xfrm>
            <a:off x="11298240" y="4511880"/>
            <a:ext cx="4687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860" spc="-1" strike="noStrike">
                <a:solidFill>
                  <a:srgbClr val="b03a2e"/>
                </a:solidFill>
                <a:latin typeface="Times New Roman"/>
                <a:ea typeface="DejaVu Sans"/>
              </a:rPr>
              <a:t>OOD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82" name="sp49"/>
          <p:cNvSpPr/>
          <p:nvPr/>
        </p:nvSpPr>
        <p:spPr>
          <a:xfrm>
            <a:off x="791280" y="4064760"/>
            <a:ext cx="1486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a4dbf"/>
                </a:solidFill>
                <a:latin typeface="Times New Roman"/>
                <a:ea typeface="DejaVu Sans"/>
              </a:rPr>
              <a:t>feedback: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a4dbf"/>
                </a:solidFill>
                <a:latin typeface="Times New Roman"/>
                <a:ea typeface="DejaVu Sans"/>
              </a:rPr>
              <a:t>completability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a4dbf"/>
                </a:solidFill>
                <a:latin typeface="Times New Roman"/>
                <a:ea typeface="DejaVu Sans"/>
              </a:rPr>
              <a:t>+ why-infeasible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3" name="sp50"/>
          <p:cNvSpPr/>
          <p:nvPr/>
        </p:nvSpPr>
        <p:spPr>
          <a:xfrm>
            <a:off x="9187200" y="768240"/>
            <a:ext cx="40118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Closed-loop execution  (sim TurtleBot3)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84" name="sp52"/>
          <p:cNvSpPr/>
          <p:nvPr/>
        </p:nvSpPr>
        <p:spPr>
          <a:xfrm>
            <a:off x="9086040" y="1740240"/>
            <a:ext cx="7804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b5b78"/>
                </a:solidFill>
                <a:latin typeface="Times New Roman"/>
                <a:ea typeface="DejaVu Sans"/>
              </a:rPr>
              <a:t>re-plan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5" name="sp3"/>
          <p:cNvSpPr/>
          <p:nvPr/>
        </p:nvSpPr>
        <p:spPr>
          <a:xfrm>
            <a:off x="2438280" y="676800"/>
            <a:ext cx="5417280" cy="1004400"/>
          </a:xfrm>
          <a:prstGeom prst="roundRect">
            <a:avLst>
              <a:gd name="adj" fmla="val 9000"/>
            </a:avLst>
          </a:prstGeom>
          <a:solidFill>
            <a:srgbClr val="ededf3"/>
          </a:solidFill>
          <a:ln w="17780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p50"/>
          <p:cNvSpPr/>
          <p:nvPr/>
        </p:nvSpPr>
        <p:spPr>
          <a:xfrm>
            <a:off x="3149280" y="768240"/>
            <a:ext cx="40118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080" bIns="100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Environment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87" name="envSub1"/>
          <p:cNvSpPr/>
          <p:nvPr/>
        </p:nvSpPr>
        <p:spPr>
          <a:xfrm>
            <a:off x="2558520" y="1080000"/>
            <a:ext cx="2487960" cy="538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envSub2"/>
          <p:cNvSpPr/>
          <p:nvPr/>
        </p:nvSpPr>
        <p:spPr>
          <a:xfrm>
            <a:off x="5180760" y="1080000"/>
            <a:ext cx="2554920" cy="538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lSub1"/>
          <p:cNvSpPr/>
          <p:nvPr/>
        </p:nvSpPr>
        <p:spPr>
          <a:xfrm>
            <a:off x="12477240" y="1074240"/>
            <a:ext cx="1818720" cy="498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MPPI tracking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(Dynamic obstacle handling) 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0" name="clSub2"/>
          <p:cNvSpPr/>
          <p:nvPr/>
        </p:nvSpPr>
        <p:spPr>
          <a:xfrm>
            <a:off x="10321920" y="1074960"/>
            <a:ext cx="1818720" cy="498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Online sound ρ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monitor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1" name="clSub3"/>
          <p:cNvSpPr/>
          <p:nvPr/>
        </p:nvSpPr>
        <p:spPr>
          <a:xfrm>
            <a:off x="8166240" y="1074240"/>
            <a:ext cx="1818720" cy="498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Stop / re-plan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(latency-aware)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2" name="clArr1"/>
          <p:cNvSpPr/>
          <p:nvPr/>
        </p:nvSpPr>
        <p:spPr>
          <a:xfrm flipH="1" flipV="1">
            <a:off x="9986040" y="1324080"/>
            <a:ext cx="335520" cy="720"/>
          </a:xfrm>
          <a:prstGeom prst="line">
            <a:avLst/>
          </a:prstGeom>
          <a:ln cap="rnd" w="19050">
            <a:solidFill>
              <a:srgbClr val="5b5b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clArr2"/>
          <p:cNvSpPr/>
          <p:nvPr/>
        </p:nvSpPr>
        <p:spPr>
          <a:xfrm flipH="1">
            <a:off x="12141720" y="1324080"/>
            <a:ext cx="335520" cy="720"/>
          </a:xfrm>
          <a:prstGeom prst="line">
            <a:avLst/>
          </a:prstGeom>
          <a:ln cap="rnd" w="19050">
            <a:solidFill>
              <a:srgbClr val="5b5b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1a"/>
          <p:cNvSpPr/>
          <p:nvPr/>
        </p:nvSpPr>
        <p:spPr>
          <a:xfrm>
            <a:off x="2754000" y="3327840"/>
            <a:ext cx="2256840" cy="178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self-consistency vote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5" name="s1b"/>
          <p:cNvSpPr/>
          <p:nvPr/>
        </p:nvSpPr>
        <p:spPr>
          <a:xfrm>
            <a:off x="2754000" y="3597840"/>
            <a:ext cx="2256840" cy="178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round-trip scope refine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6" name="s1c"/>
          <p:cNvSpPr/>
          <p:nvPr/>
        </p:nvSpPr>
        <p:spPr>
          <a:xfrm>
            <a:off x="2754000" y="3867840"/>
            <a:ext cx="2256840" cy="178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robustness-feedback self-correct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7" name="s1ar1"/>
          <p:cNvSpPr/>
          <p:nvPr/>
        </p:nvSpPr>
        <p:spPr>
          <a:xfrm>
            <a:off x="3883320" y="3507480"/>
            <a:ext cx="360" cy="90000"/>
          </a:xfrm>
          <a:prstGeom prst="line">
            <a:avLst/>
          </a:prstGeom>
          <a:ln cap="rnd" w="12700">
            <a:solidFill>
              <a:srgbClr val="b886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1ar2"/>
          <p:cNvSpPr/>
          <p:nvPr/>
        </p:nvSpPr>
        <p:spPr>
          <a:xfrm>
            <a:off x="3883320" y="3777480"/>
            <a:ext cx="360" cy="90000"/>
          </a:xfrm>
          <a:prstGeom prst="line">
            <a:avLst/>
          </a:prstGeom>
          <a:ln cap="rnd" w="12700">
            <a:solidFill>
              <a:srgbClr val="b886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2a"/>
          <p:cNvSpPr/>
          <p:nvPr/>
        </p:nvSpPr>
        <p:spPr>
          <a:xfrm>
            <a:off x="5453640" y="3354120"/>
            <a:ext cx="2005920" cy="178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operator norm. →,↔ basis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0" name="s2b"/>
          <p:cNvSpPr/>
          <p:nvPr/>
        </p:nvSpPr>
        <p:spPr>
          <a:xfrm>
            <a:off x="5453640" y="3624120"/>
            <a:ext cx="2005920" cy="178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sensor-grounded G ¬unsafe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1" name="s2ar1"/>
          <p:cNvSpPr/>
          <p:nvPr/>
        </p:nvSpPr>
        <p:spPr>
          <a:xfrm>
            <a:off x="6456960" y="3533760"/>
            <a:ext cx="360" cy="90000"/>
          </a:xfrm>
          <a:prstGeom prst="line">
            <a:avLst/>
          </a:prstGeom>
          <a:ln cap="rnd" w="12700">
            <a:solidFill>
              <a:srgbClr val="b886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3a"/>
          <p:cNvSpPr/>
          <p:nvPr/>
        </p:nvSpPr>
        <p:spPr>
          <a:xfrm>
            <a:off x="8669520" y="3354120"/>
            <a:ext cx="2708640" cy="178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nested-tree decomposition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3" name="s3b"/>
          <p:cNvSpPr/>
          <p:nvPr/>
        </p:nvSpPr>
        <p:spPr>
          <a:xfrm>
            <a:off x="8669520" y="3624120"/>
            <a:ext cx="2708640" cy="178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2160" bIns="2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best-of-N guided sampling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4" name="s3ar1"/>
          <p:cNvSpPr/>
          <p:nvPr/>
        </p:nvSpPr>
        <p:spPr>
          <a:xfrm>
            <a:off x="10024200" y="3533760"/>
            <a:ext cx="360" cy="90000"/>
          </a:xfrm>
          <a:prstGeom prst="line">
            <a:avLst/>
          </a:prstGeom>
          <a:ln cap="rnd" w="12700">
            <a:solidFill>
              <a:srgbClr val="b886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phBody"/>
          <p:cNvSpPr/>
          <p:nvPr/>
        </p:nvSpPr>
        <p:spPr>
          <a:xfrm>
            <a:off x="785520" y="1281600"/>
            <a:ext cx="818640" cy="117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6213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phScreen"/>
          <p:cNvSpPr/>
          <p:nvPr/>
        </p:nvSpPr>
        <p:spPr>
          <a:xfrm>
            <a:off x="845640" y="1431360"/>
            <a:ext cx="698400" cy="818640"/>
          </a:xfrm>
          <a:prstGeom prst="rect">
            <a:avLst/>
          </a:prstGeom>
          <a:solidFill>
            <a:srgbClr val="eaf2fb"/>
          </a:solidFill>
          <a:ln w="6350">
            <a:solidFill>
              <a:srgbClr val="9bb8d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phEar"/>
          <p:cNvSpPr/>
          <p:nvPr/>
        </p:nvSpPr>
        <p:spPr>
          <a:xfrm>
            <a:off x="1105560" y="1341360"/>
            <a:ext cx="178560" cy="38520"/>
          </a:xfrm>
          <a:prstGeom prst="roundRect">
            <a:avLst>
              <a:gd name="adj" fmla="val 50000"/>
            </a:avLst>
          </a:prstGeom>
          <a:solidFill>
            <a:srgbClr val="b8c4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phHome"/>
          <p:cNvSpPr/>
          <p:nvPr/>
        </p:nvSpPr>
        <p:spPr>
          <a:xfrm>
            <a:off x="1150560" y="2306520"/>
            <a:ext cx="88560" cy="88560"/>
          </a:xfrm>
          <a:prstGeom prst="ellipse">
            <a:avLst/>
          </a:prstGeom>
          <a:solidFill>
            <a:srgbClr val="b8c4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hBub1"/>
          <p:cNvSpPr/>
          <p:nvPr/>
        </p:nvSpPr>
        <p:spPr>
          <a:xfrm>
            <a:off x="885600" y="1491480"/>
            <a:ext cx="618480" cy="318600"/>
          </a:xfrm>
          <a:prstGeom prst="roundRect">
            <a:avLst>
              <a:gd name="adj" fmla="val 25000"/>
            </a:avLst>
          </a:prstGeom>
          <a:solidFill>
            <a:srgbClr val="e7efe4"/>
          </a:solidFill>
          <a:ln w="6350">
            <a:solidFill>
              <a:srgbClr val="4a7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rIns="6120" tIns="2160" bIns="21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650" spc="-1" strike="noStrike">
                <a:solidFill>
                  <a:srgbClr val="33513a"/>
                </a:solidFill>
                <a:latin typeface="Times New Roman"/>
                <a:ea typeface="DejaVu Sans"/>
              </a:rPr>
              <a:t>visit A,</a:t>
            </a:r>
            <a:endParaRPr b="0" lang="en-US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i="1" lang="en-US" sz="650" spc="-1" strike="noStrike">
                <a:solidFill>
                  <a:srgbClr val="33513a"/>
                </a:solidFill>
                <a:latin typeface="Times New Roman"/>
                <a:ea typeface="DejaVu Sans"/>
              </a:rPr>
              <a:t>then B</a:t>
            </a:r>
            <a:endParaRPr b="0" lang="en-US" sz="650" spc="-1" strike="noStrike">
              <a:latin typeface="Arial"/>
            </a:endParaRPr>
          </a:p>
        </p:txBody>
      </p:sp>
      <p:sp>
        <p:nvSpPr>
          <p:cNvPr id="110" name="phBub2"/>
          <p:cNvSpPr/>
          <p:nvPr/>
        </p:nvSpPr>
        <p:spPr>
          <a:xfrm>
            <a:off x="885600" y="1851480"/>
            <a:ext cx="618480" cy="328680"/>
          </a:xfrm>
          <a:prstGeom prst="roundRect">
            <a:avLst>
              <a:gd name="adj" fmla="val 25000"/>
            </a:avLst>
          </a:prstGeom>
          <a:solidFill>
            <a:srgbClr val="dfe9f5"/>
          </a:solidFill>
          <a:ln w="6350">
            <a:solidFill>
              <a:srgbClr val="2c3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rIns="6120" tIns="2160" bIns="21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650" spc="-1" strike="noStrike">
                <a:solidFill>
                  <a:srgbClr val="2c3e6b"/>
                </a:solidFill>
                <a:latin typeface="Times New Roman"/>
                <a:ea typeface="DejaVu Sans"/>
              </a:rPr>
              <a:t>keep</a:t>
            </a:r>
            <a:endParaRPr b="0" lang="en-US" sz="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i="1" lang="en-US" sz="650" spc="-1" strike="noStrike">
                <a:solidFill>
                  <a:srgbClr val="2c3e6b"/>
                </a:solidFill>
                <a:latin typeface="Times New Roman"/>
                <a:ea typeface="DejaVu Sans"/>
              </a:rPr>
              <a:t>safe</a:t>
            </a:r>
            <a:endParaRPr b="0" lang="en-US" sz="650" spc="-1" strike="noStrike">
              <a:latin typeface="Arial"/>
            </a:endParaRPr>
          </a:p>
        </p:txBody>
      </p:sp>
      <p:sp>
        <p:nvSpPr>
          <p:cNvPr id="111" name="phCap"/>
          <p:cNvSpPr/>
          <p:nvPr/>
        </p:nvSpPr>
        <p:spPr>
          <a:xfrm>
            <a:off x="585360" y="2496600"/>
            <a:ext cx="12186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120" rIns="6120" tIns="2880" bIns="28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3513a"/>
                </a:solidFill>
                <a:latin typeface="Times New Roman"/>
                <a:ea typeface="DejaVu Sans"/>
              </a:rPr>
              <a:t> </a:t>
            </a:r>
            <a:r>
              <a:rPr b="1" lang="en-US" sz="1000" spc="-1" strike="noStrike">
                <a:solidFill>
                  <a:srgbClr val="33513a"/>
                </a:solidFill>
                <a:latin typeface="Times New Roman"/>
                <a:ea typeface="DejaVu Sans"/>
              </a:rPr>
              <a:t>NL task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2" name="trajPanel"/>
          <p:cNvSpPr/>
          <p:nvPr/>
        </p:nvSpPr>
        <p:spPr>
          <a:xfrm>
            <a:off x="12485520" y="3328560"/>
            <a:ext cx="1738440" cy="1698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b8d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rajObs"/>
          <p:cNvSpPr/>
          <p:nvPr/>
        </p:nvSpPr>
        <p:spPr>
          <a:xfrm>
            <a:off x="13225680" y="4128480"/>
            <a:ext cx="278640" cy="278640"/>
          </a:xfrm>
          <a:prstGeom prst="ellipse">
            <a:avLst/>
          </a:prstGeom>
          <a:solidFill>
            <a:srgbClr val="ededf3"/>
          </a:solidFill>
          <a:ln w="9525">
            <a:solidFill>
              <a:srgbClr val="5b5b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rajCurve"/>
          <p:cNvSpPr/>
          <p:nvPr/>
        </p:nvSpPr>
        <p:spPr>
          <a:xfrm>
            <a:off x="12545640" y="3408480"/>
            <a:ext cx="1618560" cy="1498680"/>
          </a:xfrm>
          <a:custGeom>
            <a:avLst/>
            <a:gdLst/>
            <a:ahLst/>
            <a:rect l="l" t="t" r="r" b="b"/>
            <a:pathLst>
              <a:path w="1620000" h="1500000">
                <a:moveTo>
                  <a:pt x="120000" y="1340000"/>
                </a:moveTo>
                <a:cubicBezTo>
                  <a:pt x="360000" y="1320000"/>
                  <a:pt x="430000" y="780000"/>
                  <a:pt x="700000" y="620000"/>
                </a:cubicBezTo>
                <a:cubicBezTo>
                  <a:pt x="1010000" y="470000"/>
                  <a:pt x="1120000" y="300000"/>
                  <a:pt x="1490000" y="210000"/>
                </a:cubicBezTo>
              </a:path>
            </a:pathLst>
          </a:custGeom>
          <a:noFill/>
          <a:ln cap="rnd" w="280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rajStart"/>
          <p:cNvSpPr/>
          <p:nvPr/>
        </p:nvSpPr>
        <p:spPr>
          <a:xfrm>
            <a:off x="12615840" y="4698720"/>
            <a:ext cx="98640" cy="98640"/>
          </a:xfrm>
          <a:prstGeom prst="ellipse">
            <a:avLst/>
          </a:prstGeom>
          <a:solidFill>
            <a:srgbClr val="4a7a52"/>
          </a:solidFill>
          <a:ln w="6350">
            <a:solidFill>
              <a:srgbClr val="1e7a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rajGoal"/>
          <p:cNvSpPr/>
          <p:nvPr/>
        </p:nvSpPr>
        <p:spPr>
          <a:xfrm>
            <a:off x="13950720" y="3533400"/>
            <a:ext cx="168480" cy="16848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3e7df"/>
          </a:solidFill>
          <a:ln w="9525">
            <a:solidFill>
              <a:srgbClr val="b07a3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rajTau"/>
          <p:cNvSpPr/>
          <p:nvPr/>
        </p:nvSpPr>
        <p:spPr>
          <a:xfrm>
            <a:off x="13615560" y="3694320"/>
            <a:ext cx="3186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" rIns="2880" tIns="2160" bIns="216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100" spc="-1" strike="noStrike">
                <a:solidFill>
                  <a:srgbClr val="2e75b6"/>
                </a:solidFill>
                <a:latin typeface="Times New Roman"/>
                <a:ea typeface="DejaVu Sans"/>
              </a:rPr>
              <a:t>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8" name="trajCap"/>
          <p:cNvSpPr/>
          <p:nvPr/>
        </p:nvSpPr>
        <p:spPr>
          <a:xfrm>
            <a:off x="12477600" y="5043600"/>
            <a:ext cx="1738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120" rIns="6120" tIns="2880" bIns="288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7a4d1c"/>
                </a:solidFill>
                <a:latin typeface="Times New Roman"/>
                <a:ea typeface="DejaVu Sans"/>
              </a:rPr>
              <a:t>Output trajectory τ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9" name="cxn33"/>
          <p:cNvSpPr/>
          <p:nvPr/>
        </p:nvSpPr>
        <p:spPr>
          <a:xfrm>
            <a:off x="5120280" y="1674360"/>
            <a:ext cx="360" cy="336600"/>
          </a:xfrm>
          <a:prstGeom prst="line">
            <a:avLst/>
          </a:prstGeom>
          <a:ln cap="rnd" w="22860">
            <a:solidFill>
              <a:srgbClr val="5b5b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20" name="グラフィックス 85" descr="家 単色塗りつぶし"/>
          <p:cNvPicPr/>
          <p:nvPr/>
        </p:nvPicPr>
        <p:blipFill>
          <a:blip r:embed="rId1"/>
          <a:stretch/>
        </p:blipFill>
        <p:spPr>
          <a:xfrm>
            <a:off x="4112640" y="1104120"/>
            <a:ext cx="448560" cy="448560"/>
          </a:xfrm>
          <a:prstGeom prst="rect">
            <a:avLst/>
          </a:prstGeom>
          <a:ln w="0">
            <a:noFill/>
          </a:ln>
        </p:spPr>
      </p:pic>
      <p:pic>
        <p:nvPicPr>
          <p:cNvPr id="121" name="グラフィックス 87" descr="杖を持った男性 単色塗りつぶし"/>
          <p:cNvPicPr/>
          <p:nvPr/>
        </p:nvPicPr>
        <p:blipFill>
          <a:blip r:embed="rId2"/>
          <a:stretch/>
        </p:blipFill>
        <p:spPr>
          <a:xfrm>
            <a:off x="6839280" y="1141920"/>
            <a:ext cx="448560" cy="448560"/>
          </a:xfrm>
          <a:prstGeom prst="rect">
            <a:avLst/>
          </a:prstGeom>
          <a:ln w="0">
            <a:noFill/>
          </a:ln>
        </p:spPr>
      </p:pic>
      <p:pic>
        <p:nvPicPr>
          <p:cNvPr id="122" name="グラフィックス 89" descr="ロボット 単色塗りつぶし"/>
          <p:cNvPicPr/>
          <p:nvPr/>
        </p:nvPicPr>
        <p:blipFill>
          <a:blip r:embed="rId3"/>
          <a:stretch/>
        </p:blipFill>
        <p:spPr>
          <a:xfrm>
            <a:off x="7220880" y="1137960"/>
            <a:ext cx="448560" cy="448560"/>
          </a:xfrm>
          <a:prstGeom prst="rect">
            <a:avLst/>
          </a:prstGeom>
          <a:ln w="0">
            <a:noFill/>
          </a:ln>
        </p:spPr>
      </p:pic>
      <p:sp>
        <p:nvSpPr>
          <p:cNvPr id="123" name="テキスト ボックス 90"/>
          <p:cNvSpPr/>
          <p:nvPr/>
        </p:nvSpPr>
        <p:spPr>
          <a:xfrm>
            <a:off x="2876760" y="1214640"/>
            <a:ext cx="9968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Infrastructure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4" name="テキスト ボックス 91"/>
          <p:cNvSpPr/>
          <p:nvPr/>
        </p:nvSpPr>
        <p:spPr>
          <a:xfrm>
            <a:off x="5180760" y="1214640"/>
            <a:ext cx="1809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16213a"/>
                </a:solidFill>
                <a:latin typeface="Times New Roman"/>
                <a:ea typeface="DejaVu Sans"/>
              </a:rPr>
              <a:t>Other object / robot / human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5" name="テキスト ボックス 37"/>
          <p:cNvSpPr/>
          <p:nvPr/>
        </p:nvSpPr>
        <p:spPr>
          <a:xfrm>
            <a:off x="11643480" y="2383920"/>
            <a:ext cx="742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b5b78"/>
                </a:solidFill>
                <a:latin typeface="Times New Roman"/>
                <a:ea typeface="DejaVu Sans"/>
              </a:rPr>
              <a:t>Every 5s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6" name="cxn22"/>
          <p:cNvSpPr/>
          <p:nvPr/>
        </p:nvSpPr>
        <p:spPr>
          <a:xfrm flipV="1">
            <a:off x="7857000" y="1178280"/>
            <a:ext cx="214560" cy="1440"/>
          </a:xfrm>
          <a:prstGeom prst="line">
            <a:avLst/>
          </a:prstGeom>
          <a:ln cap="rnd" w="24130">
            <a:solidFill>
              <a:srgbClr val="2c3e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3342240" y="1702800"/>
            <a:ext cx="181368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b5b78"/>
                </a:solidFill>
                <a:latin typeface="Times New Roman"/>
                <a:ea typeface="DejaVu Sans"/>
              </a:rPr>
              <a:t>Static Obstacle Modeling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00" name="smartwatch" descr="smartwatch"/>
          <p:cNvPicPr/>
          <p:nvPr/>
        </p:nvPicPr>
        <p:blipFill>
          <a:blip r:embed="rId5"/>
          <a:stretch/>
        </p:blipFill>
        <p:spPr>
          <a:xfrm>
            <a:off x="254000" y="1638300"/>
            <a:ext cx="457200" cy="457200"/>
          </a:xfrm>
          <a:prstGeom prst="rect">
            <a:avLst/>
          </a:prstGeom>
          <a:ln w="0">
            <a:noFill/>
          </a:ln>
        </p:spPr>
      </p:pic>
      <p:pic>
        <p:nvPicPr>
          <p:cNvPr id="201" name="smartspeaker" descr="smartspeaker"/>
          <p:cNvPicPr/>
          <p:nvPr/>
        </p:nvPicPr>
        <p:blipFill>
          <a:blip r:embed="rId6"/>
          <a:stretch/>
        </p:blipFill>
        <p:spPr>
          <a:xfrm>
            <a:off x="1651000" y="1638300"/>
            <a:ext cx="457200" cy="4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  <Words>203</Words>
  <Paragraphs>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2026-06-06T07:11:40Z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ユーザー設定</vt:lpwstr>
  </property>
  <property fmtid="{D5CDD505-2E9C-101B-9397-08002B2CF9AE}" pid="3" name="Slides">
    <vt:i4>1</vt:i4>
  </property>
</Properties>
</file>