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26060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5486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213A"/>
                </a:solidFill>
                <a:latin typeface="Arial"/>
              </a:rPr>
              <a:t>(a) Nested STL spec</a:t>
            </a:r>
          </a:p>
        </p:txBody>
      </p:sp>
      <p:cxnSp>
        <p:nvCxnSpPr>
          <p:cNvPr id="3" name="Connector 2"/>
          <p:cNvCxnSpPr/>
          <p:nvPr/>
        </p:nvCxnSpPr>
        <p:spPr>
          <a:xfrm flipH="1">
            <a:off x="724204" y="603503"/>
            <a:ext cx="606247" cy="475489"/>
          </a:xfrm>
          <a:prstGeom prst="line">
            <a:avLst/>
          </a:prstGeom>
          <a:ln w="1397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24204" y="1078992"/>
            <a:ext cx="0" cy="512064"/>
          </a:xfrm>
          <a:prstGeom prst="line">
            <a:avLst/>
          </a:prstGeom>
          <a:ln w="1397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30451" y="603503"/>
            <a:ext cx="0" cy="475489"/>
          </a:xfrm>
          <a:prstGeom prst="line">
            <a:avLst/>
          </a:prstGeom>
          <a:ln w="1397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30451" y="1078992"/>
            <a:ext cx="0" cy="402336"/>
          </a:xfrm>
          <a:prstGeom prst="line">
            <a:avLst/>
          </a:prstGeom>
          <a:ln w="1397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0451" y="1481328"/>
            <a:ext cx="0" cy="402336"/>
          </a:xfrm>
          <a:prstGeom prst="line">
            <a:avLst/>
          </a:prstGeom>
          <a:ln w="1397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30451" y="603503"/>
            <a:ext cx="652882" cy="475489"/>
          </a:xfrm>
          <a:prstGeom prst="line">
            <a:avLst/>
          </a:prstGeom>
          <a:ln w="1397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983333" y="1078992"/>
            <a:ext cx="0" cy="402336"/>
          </a:xfrm>
          <a:prstGeom prst="line">
            <a:avLst/>
          </a:prstGeom>
          <a:ln w="1397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83333" y="1481328"/>
            <a:ext cx="0" cy="402336"/>
          </a:xfrm>
          <a:prstGeom prst="line">
            <a:avLst/>
          </a:prstGeom>
          <a:ln w="1397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147572" y="420623"/>
            <a:ext cx="365760" cy="365760"/>
          </a:xfrm>
          <a:prstGeom prst="ellipse">
            <a:avLst/>
          </a:prstGeom>
          <a:solidFill>
            <a:srgbClr val="D7E3F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16213A"/>
                </a:solidFill>
                <a:latin typeface="Arial"/>
              </a:rPr>
              <a:t>∧</a:t>
            </a:r>
          </a:p>
        </p:txBody>
      </p:sp>
      <p:sp>
        <p:nvSpPr>
          <p:cNvPr id="12" name="Oval 11"/>
          <p:cNvSpPr/>
          <p:nvPr/>
        </p:nvSpPr>
        <p:spPr>
          <a:xfrm>
            <a:off x="541324" y="896112"/>
            <a:ext cx="365760" cy="365760"/>
          </a:xfrm>
          <a:prstGeom prst="ellipse">
            <a:avLst/>
          </a:prstGeom>
          <a:solidFill>
            <a:srgbClr val="D7E3F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16213A"/>
                </a:solidFill>
                <a:latin typeface="Arial"/>
              </a:rPr>
              <a:t>F[a,b]</a:t>
            </a:r>
          </a:p>
        </p:txBody>
      </p:sp>
      <p:sp>
        <p:nvSpPr>
          <p:cNvPr id="13" name="Oval 12"/>
          <p:cNvSpPr/>
          <p:nvPr/>
        </p:nvSpPr>
        <p:spPr>
          <a:xfrm>
            <a:off x="541324" y="1408176"/>
            <a:ext cx="365760" cy="36576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reach g</a:t>
            </a:r>
          </a:p>
        </p:txBody>
      </p:sp>
      <p:sp>
        <p:nvSpPr>
          <p:cNvPr id="14" name="Oval 13"/>
          <p:cNvSpPr/>
          <p:nvPr/>
        </p:nvSpPr>
        <p:spPr>
          <a:xfrm>
            <a:off x="1147572" y="896112"/>
            <a:ext cx="365760" cy="365760"/>
          </a:xfrm>
          <a:prstGeom prst="ellipse">
            <a:avLst/>
          </a:prstGeom>
          <a:solidFill>
            <a:srgbClr val="D7E3F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16213A"/>
                </a:solidFill>
                <a:latin typeface="Arial"/>
              </a:rPr>
              <a:t>G</a:t>
            </a:r>
          </a:p>
        </p:txBody>
      </p:sp>
      <p:sp>
        <p:nvSpPr>
          <p:cNvPr id="15" name="Oval 14"/>
          <p:cNvSpPr/>
          <p:nvPr/>
        </p:nvSpPr>
        <p:spPr>
          <a:xfrm>
            <a:off x="1147572" y="1298448"/>
            <a:ext cx="365760" cy="365760"/>
          </a:xfrm>
          <a:prstGeom prst="ellipse">
            <a:avLst/>
          </a:prstGeom>
          <a:solidFill>
            <a:srgbClr val="E3E6E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16213A"/>
                </a:solidFill>
                <a:latin typeface="Arial"/>
              </a:rPr>
              <a:t>¬</a:t>
            </a:r>
          </a:p>
        </p:txBody>
      </p:sp>
      <p:sp>
        <p:nvSpPr>
          <p:cNvPr id="16" name="Oval 15"/>
          <p:cNvSpPr/>
          <p:nvPr/>
        </p:nvSpPr>
        <p:spPr>
          <a:xfrm>
            <a:off x="1147572" y="1700784"/>
            <a:ext cx="365760" cy="365760"/>
          </a:xfrm>
          <a:prstGeom prst="ellipse">
            <a:avLst/>
          </a:prstGeom>
          <a:solidFill>
            <a:srgbClr val="5B6675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avoid o</a:t>
            </a:r>
          </a:p>
        </p:txBody>
      </p:sp>
      <p:sp>
        <p:nvSpPr>
          <p:cNvPr id="17" name="Oval 16"/>
          <p:cNvSpPr/>
          <p:nvPr/>
        </p:nvSpPr>
        <p:spPr>
          <a:xfrm>
            <a:off x="1800453" y="896112"/>
            <a:ext cx="365760" cy="365760"/>
          </a:xfrm>
          <a:prstGeom prst="ellipse">
            <a:avLst/>
          </a:prstGeom>
          <a:solidFill>
            <a:srgbClr val="D7E3F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16213A"/>
                </a:solidFill>
                <a:latin typeface="Arial"/>
              </a:rPr>
              <a:t>G</a:t>
            </a:r>
          </a:p>
        </p:txBody>
      </p:sp>
      <p:sp>
        <p:nvSpPr>
          <p:cNvPr id="18" name="Oval 17"/>
          <p:cNvSpPr/>
          <p:nvPr/>
        </p:nvSpPr>
        <p:spPr>
          <a:xfrm>
            <a:off x="1800453" y="1298448"/>
            <a:ext cx="365760" cy="365760"/>
          </a:xfrm>
          <a:prstGeom prst="ellipse">
            <a:avLst/>
          </a:prstGeom>
          <a:solidFill>
            <a:srgbClr val="E3E6EA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16213A"/>
                </a:solidFill>
                <a:latin typeface="Arial"/>
              </a:rPr>
              <a:t>¬</a:t>
            </a:r>
          </a:p>
        </p:txBody>
      </p:sp>
      <p:sp>
        <p:nvSpPr>
          <p:cNvPr id="19" name="Oval 18"/>
          <p:cNvSpPr/>
          <p:nvPr/>
        </p:nvSpPr>
        <p:spPr>
          <a:xfrm>
            <a:off x="1800453" y="1700784"/>
            <a:ext cx="365760" cy="365760"/>
          </a:xfrm>
          <a:prstGeom prst="ellipse">
            <a:avLst/>
          </a:prstGeom>
          <a:solidFill>
            <a:srgbClr val="5B6675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unsafe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" y="2331720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444444"/>
                </a:solidFill>
                <a:latin typeface="Arial"/>
              </a:rPr>
              <a:t>keep-safe = G ¬ unsafe, grounded by sensed disks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54864"/>
            <a:ext cx="4434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213A"/>
                </a:solidFill>
                <a:latin typeface="Arial"/>
              </a:rPr>
              <a:t>(b) Frozen flow-matching planner + robustness guidance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3268" y="416966"/>
            <a:ext cx="1197406" cy="521207"/>
          </a:xfrm>
          <a:prstGeom prst="roundRect">
            <a:avLst>
              <a:gd name="adj" fmla="val 16000"/>
            </a:avLst>
          </a:prstGeom>
          <a:solidFill>
            <a:srgbClr val="D7E3F2"/>
          </a:solidFill>
          <a:ln w="16510">
            <a:solidFill>
              <a:srgbClr val="2C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800" b="1">
                <a:solidFill>
                  <a:srgbClr val="16213A"/>
                </a:solidFill>
                <a:latin typeface="Arial"/>
              </a:rPr>
              <a:t>frozen GNN</a:t>
            </a:r>
          </a:p>
          <a:p>
            <a:pPr algn="ctr"/>
            <a:r>
              <a:rPr sz="800" b="1">
                <a:solidFill>
                  <a:srgbClr val="16213A"/>
                </a:solidFill>
                <a:latin typeface="Arial"/>
              </a:rPr>
              <a:t>encoder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3331" y="97177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16213A"/>
                </a:solidFill>
                <a:latin typeface="Arial"/>
              </a:rPr>
              <a:t>⇒ conditioning z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30675" y="677570"/>
            <a:ext cx="594268" cy="0"/>
          </a:xfrm>
          <a:prstGeom prst="line">
            <a:avLst/>
          </a:prstGeom>
          <a:ln w="17780">
            <a:solidFill>
              <a:srgbClr val="2C3E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662982" y="467258"/>
            <a:ext cx="420624" cy="420624"/>
          </a:xfrm>
          <a:prstGeom prst="ellipse">
            <a:avLst/>
          </a:prstGeom>
          <a:solidFill>
            <a:srgbClr val="CFE0D2"/>
          </a:solidFill>
          <a:ln w="16510">
            <a:solidFill>
              <a:srgbClr val="4F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16213A"/>
                </a:solidFill>
                <a:latin typeface="Arial"/>
              </a:rPr>
              <a:t>xT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39385" y="677570"/>
            <a:ext cx="133045" cy="0"/>
          </a:xfrm>
          <a:prstGeom prst="line">
            <a:avLst/>
          </a:prstGeom>
          <a:ln w="16510">
            <a:solidFill>
              <a:srgbClr val="4F9E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328208" y="467258"/>
            <a:ext cx="420624" cy="420624"/>
          </a:xfrm>
          <a:prstGeom prst="ellipse">
            <a:avLst/>
          </a:prstGeom>
          <a:solidFill>
            <a:srgbClr val="CFE0D2"/>
          </a:solidFill>
          <a:ln w="16510">
            <a:solidFill>
              <a:srgbClr val="4F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16213A"/>
                </a:solidFill>
                <a:latin typeface="Arial"/>
              </a:rPr>
              <a:t>xt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04611" y="677570"/>
            <a:ext cx="133045" cy="0"/>
          </a:xfrm>
          <a:prstGeom prst="line">
            <a:avLst/>
          </a:prstGeom>
          <a:ln w="16510">
            <a:solidFill>
              <a:srgbClr val="4F9E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993434" y="467258"/>
            <a:ext cx="420624" cy="420624"/>
          </a:xfrm>
          <a:prstGeom prst="ellipse">
            <a:avLst/>
          </a:prstGeom>
          <a:solidFill>
            <a:srgbClr val="CFE0D2"/>
          </a:solidFill>
          <a:ln w="16510">
            <a:solidFill>
              <a:srgbClr val="4F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16213A"/>
                </a:solidFill>
                <a:latin typeface="Arial"/>
              </a:rPr>
              <a:t>⋯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69837" y="677570"/>
            <a:ext cx="133045" cy="0"/>
          </a:xfrm>
          <a:prstGeom prst="line">
            <a:avLst/>
          </a:prstGeom>
          <a:ln w="16510">
            <a:solidFill>
              <a:srgbClr val="4F9E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658660" y="467258"/>
            <a:ext cx="420624" cy="420624"/>
          </a:xfrm>
          <a:prstGeom prst="ellipse">
            <a:avLst/>
          </a:prstGeom>
          <a:solidFill>
            <a:srgbClr val="CFE0D2"/>
          </a:solidFill>
          <a:ln w="16510">
            <a:solidFill>
              <a:srgbClr val="4F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>
                <a:solidFill>
                  <a:srgbClr val="16213A"/>
                </a:solidFill>
                <a:latin typeface="Arial"/>
              </a:rPr>
              <a:t>x0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2417" y="1146657"/>
            <a:ext cx="2882645" cy="312724"/>
          </a:xfrm>
          <a:prstGeom prst="roundRect">
            <a:avLst>
              <a:gd name="adj" fmla="val 16000"/>
            </a:avLst>
          </a:prstGeom>
          <a:solidFill>
            <a:srgbClr val="FBE2DF"/>
          </a:solidFill>
          <a:ln w="17780">
            <a:solidFill>
              <a:srgbClr val="C9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750" b="1">
                <a:solidFill>
                  <a:srgbClr val="16213A"/>
                </a:solidFill>
                <a:latin typeface="Arial"/>
              </a:rPr>
              <a:t>differentiable STL robustness ∇ρ (STLCG) steers sampling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873294" y="887882"/>
            <a:ext cx="0" cy="258775"/>
          </a:xfrm>
          <a:prstGeom prst="line">
            <a:avLst/>
          </a:prstGeom>
          <a:ln w="15240">
            <a:solidFill>
              <a:srgbClr val="C97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538520" y="887882"/>
            <a:ext cx="0" cy="258775"/>
          </a:xfrm>
          <a:prstGeom prst="line">
            <a:avLst/>
          </a:prstGeom>
          <a:ln w="15240">
            <a:solidFill>
              <a:srgbClr val="C97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203746" y="887882"/>
            <a:ext cx="0" cy="258775"/>
          </a:xfrm>
          <a:prstGeom prst="line">
            <a:avLst/>
          </a:prstGeom>
          <a:ln w="15240">
            <a:solidFill>
              <a:srgbClr val="C97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833268" y="1641805"/>
            <a:ext cx="1507845" cy="390906"/>
          </a:xfrm>
          <a:prstGeom prst="roundRect">
            <a:avLst>
              <a:gd name="adj" fmla="val 16000"/>
            </a:avLst>
          </a:prstGeom>
          <a:solidFill>
            <a:srgbClr val="FFF4D6"/>
          </a:solidFill>
          <a:ln w="1524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750" b="1">
                <a:solidFill>
                  <a:srgbClr val="16213A"/>
                </a:solidFill>
                <a:latin typeface="Arial"/>
              </a:rPr>
              <a:t>operator normalization</a:t>
            </a:r>
          </a:p>
          <a:p>
            <a:pPr algn="ctr"/>
            <a:r>
              <a:rPr sz="750" b="1">
                <a:solidFill>
                  <a:srgbClr val="16213A"/>
                </a:solidFill>
                <a:latin typeface="Arial"/>
              </a:rPr>
              <a:t>→,↔ ⇒ basis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51984" y="1641805"/>
            <a:ext cx="1064361" cy="390906"/>
          </a:xfrm>
          <a:prstGeom prst="roundRect">
            <a:avLst>
              <a:gd name="adj" fmla="val 16000"/>
            </a:avLst>
          </a:prstGeom>
          <a:solidFill>
            <a:srgbClr val="FFF4D6"/>
          </a:solidFill>
          <a:ln w="1524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750" b="1">
                <a:solidFill>
                  <a:srgbClr val="16213A"/>
                </a:solidFill>
                <a:latin typeface="Arial"/>
              </a:rPr>
              <a:t>nested-tree</a:t>
            </a:r>
          </a:p>
          <a:p>
            <a:pPr algn="ctr"/>
            <a:r>
              <a:rPr sz="750" b="1">
                <a:solidFill>
                  <a:srgbClr val="16213A"/>
                </a:solidFill>
                <a:latin typeface="Arial"/>
              </a:rPr>
              <a:t>decomposition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7217" y="1641805"/>
            <a:ext cx="1507845" cy="390906"/>
          </a:xfrm>
          <a:prstGeom prst="roundRect">
            <a:avLst>
              <a:gd name="adj" fmla="val 16000"/>
            </a:avLst>
          </a:prstGeom>
          <a:solidFill>
            <a:srgbClr val="FFF4D6"/>
          </a:solidFill>
          <a:ln w="1524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750" b="1">
                <a:solidFill>
                  <a:srgbClr val="16213A"/>
                </a:solidFill>
                <a:latin typeface="Arial"/>
              </a:rPr>
              <a:t>feasibility self-check</a:t>
            </a:r>
          </a:p>
          <a:p>
            <a:pPr algn="ctr"/>
            <a:r>
              <a:rPr sz="750" b="1">
                <a:solidFill>
                  <a:srgbClr val="16213A"/>
                </a:solidFill>
                <a:latin typeface="Arial"/>
              </a:rPr>
              <a:t>→ A* if OOD</a:t>
            </a:r>
          </a:p>
        </p:txBody>
      </p:sp>
      <p:pic>
        <p:nvPicPr>
          <p:cNvPr id="39" name="Picture 38" descr="b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149754"/>
            <a:ext cx="3977639" cy="23664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360920" y="5486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213A"/>
                </a:solidFill>
                <a:latin typeface="Arial"/>
              </a:rPr>
              <a:t>(c) TeLoGraF plan (no A*)</a:t>
            </a:r>
          </a:p>
        </p:txBody>
      </p:sp>
      <p:pic>
        <p:nvPicPr>
          <p:cNvPr id="41" name="Picture 40" descr="c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402336"/>
            <a:ext cx="2741091" cy="21031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287000" y="502920"/>
            <a:ext cx="187451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16213A"/>
                </a:solidFill>
                <a:latin typeface="Arial"/>
              </a:rPr>
              <a:t>NL: “Reach the goal within</a:t>
            </a:r>
          </a:p>
          <a:p>
            <a:pPr algn="l"/>
            <a:r>
              <a:rPr sz="800" b="1" i="1">
                <a:solidFill>
                  <a:srgbClr val="16213A"/>
                </a:solidFill>
                <a:latin typeface="Arial"/>
              </a:rPr>
              <a:t>70 seconds while always</a:t>
            </a:r>
          </a:p>
          <a:p>
            <a:pPr algn="l"/>
            <a:r>
              <a:rPr sz="800" b="1" i="1">
                <a:solidFill>
                  <a:srgbClr val="16213A"/>
                </a:solidFill>
                <a:latin typeface="Arial"/>
              </a:rPr>
              <a:t>keeping safe from every</a:t>
            </a:r>
          </a:p>
          <a:p>
            <a:pPr algn="l"/>
            <a:r>
              <a:rPr sz="800" b="1" i="1">
                <a:solidFill>
                  <a:srgbClr val="16213A"/>
                </a:solidFill>
                <a:latin typeface="Arial"/>
              </a:rPr>
              <a:t>obstacle.”</a:t>
            </a:r>
          </a:p>
        </p:txBody>
      </p:sp>
      <p:pic>
        <p:nvPicPr>
          <p:cNvPr id="43" name="Picture 42" descr="c_st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1417320"/>
            <a:ext cx="1783080" cy="19349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287000" y="178308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6213A"/>
                </a:solidFill>
                <a:latin typeface="Arial"/>
              </a:rPr>
              <a:t>exec 53 s + 4 s plan (in time)</a:t>
            </a:r>
          </a:p>
        </p:txBody>
      </p:sp>
      <p:pic>
        <p:nvPicPr>
          <p:cNvPr id="45" name="Picture 44" descr="c_rh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2057400"/>
            <a:ext cx="1828800" cy="1843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