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88825" cy="2606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129D64-FFED-430F-9DE3-9550FCC2346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120" y="609840"/>
            <a:ext cx="1096956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E62B88-D60B-423C-8B6A-6919488D4D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1096956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FC91FE-3631-4D24-B746-C25F6ABFEE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535284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30160" y="609840"/>
            <a:ext cx="535284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F4380B-9ACE-4C42-9B10-D55B83822F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698202-F546-4ABE-9996-641E2D9E34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609120" y="103680"/>
            <a:ext cx="10969560" cy="201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BEFCA6-B5A8-47EE-8A4D-F9BB1A379C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0160" y="609840"/>
            <a:ext cx="535284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120" y="139932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403524-80B0-4ABA-BF6E-22C24A37D4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5352840" cy="151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016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30160" y="139932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CD2E40-7F75-42CA-BF44-C7E0D27512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016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09120" y="1399320"/>
            <a:ext cx="109695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CDE0B1-9B15-4754-89B5-7A84483427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109695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09120" y="1399320"/>
            <a:ext cx="109695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77478E-CC05-48EE-B8AD-AD92E949E3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0160" y="60984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120" y="139932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30160" y="1399320"/>
            <a:ext cx="535284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51426C-B5C2-491A-B058-DBDDB525D3E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120" y="8640"/>
            <a:ext cx="10969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120" y="60984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318200" y="60984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8026920" y="60984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09120" y="139932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318200" y="139932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8026920" y="1399320"/>
            <a:ext cx="3531960" cy="72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C36C10-65FA-4A0F-90D9-02495B88D76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1C40DD-E10E-4E71-840B-9C403CDE249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1"/>
          <p:cNvSpPr/>
          <p:nvPr/>
        </p:nvSpPr>
        <p:spPr>
          <a:xfrm>
            <a:off x="91440" y="116640"/>
            <a:ext cx="246816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(a) Nested STL spec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0" name="Connector 2"/>
          <p:cNvSpPr/>
          <p:nvPr/>
        </p:nvSpPr>
        <p:spPr>
          <a:xfrm flipH="1">
            <a:off x="723960" y="927360"/>
            <a:ext cx="60624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1" name="Connector 3"/>
          <p:cNvSpPr/>
          <p:nvPr/>
        </p:nvSpPr>
        <p:spPr>
          <a:xfrm>
            <a:off x="723960" y="1402920"/>
            <a:ext cx="360" cy="5119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2" name="Connector 4"/>
          <p:cNvSpPr/>
          <p:nvPr/>
        </p:nvSpPr>
        <p:spPr>
          <a:xfrm>
            <a:off x="1330200" y="927360"/>
            <a:ext cx="36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3" name="Connector 5"/>
          <p:cNvSpPr/>
          <p:nvPr/>
        </p:nvSpPr>
        <p:spPr>
          <a:xfrm>
            <a:off x="1330200" y="1402920"/>
            <a:ext cx="360" cy="4021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4" name="Connector 6"/>
          <p:cNvSpPr/>
          <p:nvPr/>
        </p:nvSpPr>
        <p:spPr>
          <a:xfrm>
            <a:off x="1330200" y="1805040"/>
            <a:ext cx="360" cy="40248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5" name="Connector 7"/>
          <p:cNvSpPr/>
          <p:nvPr/>
        </p:nvSpPr>
        <p:spPr>
          <a:xfrm>
            <a:off x="1330200" y="927360"/>
            <a:ext cx="65304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6" name="Connector 8"/>
          <p:cNvSpPr/>
          <p:nvPr/>
        </p:nvSpPr>
        <p:spPr>
          <a:xfrm>
            <a:off x="1983240" y="1402920"/>
            <a:ext cx="360" cy="4021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7" name="Connector 9"/>
          <p:cNvSpPr/>
          <p:nvPr/>
        </p:nvSpPr>
        <p:spPr>
          <a:xfrm>
            <a:off x="1983240" y="1805040"/>
            <a:ext cx="360" cy="40248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8" name="Oval 10"/>
          <p:cNvSpPr/>
          <p:nvPr/>
        </p:nvSpPr>
        <p:spPr>
          <a:xfrm>
            <a:off x="1147680" y="744480"/>
            <a:ext cx="365040" cy="36504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∧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49" name="Oval 11"/>
          <p:cNvSpPr/>
          <p:nvPr/>
        </p:nvSpPr>
        <p:spPr>
          <a:xfrm>
            <a:off x="541440" y="1220040"/>
            <a:ext cx="365040" cy="36504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F[a,b]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0" name="Oval 12"/>
          <p:cNvSpPr/>
          <p:nvPr/>
        </p:nvSpPr>
        <p:spPr>
          <a:xfrm>
            <a:off x="541440" y="1732320"/>
            <a:ext cx="365040" cy="3650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reach g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1" name="Oval 13"/>
          <p:cNvSpPr/>
          <p:nvPr/>
        </p:nvSpPr>
        <p:spPr>
          <a:xfrm>
            <a:off x="1147680" y="1220040"/>
            <a:ext cx="365040" cy="36504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G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2" name="Oval 14"/>
          <p:cNvSpPr/>
          <p:nvPr/>
        </p:nvSpPr>
        <p:spPr>
          <a:xfrm>
            <a:off x="1147680" y="1622520"/>
            <a:ext cx="365040" cy="365040"/>
          </a:xfrm>
          <a:prstGeom prst="ellipse">
            <a:avLst/>
          </a:prstGeom>
          <a:solidFill>
            <a:srgbClr val="e3e6ea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¬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3" name="Oval 15"/>
          <p:cNvSpPr/>
          <p:nvPr/>
        </p:nvSpPr>
        <p:spPr>
          <a:xfrm>
            <a:off x="1147680" y="2024640"/>
            <a:ext cx="365040" cy="36504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avoid o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4" name="Oval 16"/>
          <p:cNvSpPr/>
          <p:nvPr/>
        </p:nvSpPr>
        <p:spPr>
          <a:xfrm>
            <a:off x="1800360" y="1220040"/>
            <a:ext cx="365040" cy="36504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G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5" name="Oval 17"/>
          <p:cNvSpPr/>
          <p:nvPr/>
        </p:nvSpPr>
        <p:spPr>
          <a:xfrm>
            <a:off x="1800360" y="1622520"/>
            <a:ext cx="365040" cy="365040"/>
          </a:xfrm>
          <a:prstGeom prst="ellipse">
            <a:avLst/>
          </a:prstGeom>
          <a:solidFill>
            <a:srgbClr val="e3e6ea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¬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56" name="Oval 18"/>
          <p:cNvSpPr/>
          <p:nvPr/>
        </p:nvSpPr>
        <p:spPr>
          <a:xfrm>
            <a:off x="1800360" y="2024640"/>
            <a:ext cx="365040" cy="36504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unsafe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7" name="TextBox 19"/>
          <p:cNvSpPr/>
          <p:nvPr/>
        </p:nvSpPr>
        <p:spPr>
          <a:xfrm>
            <a:off x="156600" y="414000"/>
            <a:ext cx="246816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keep-safe = G ¬ unsafe, grounded by sensed disks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8" name="TextBox 20"/>
          <p:cNvSpPr/>
          <p:nvPr/>
        </p:nvSpPr>
        <p:spPr>
          <a:xfrm>
            <a:off x="2788920" y="116640"/>
            <a:ext cx="44341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(b) Frozen flow-matching planner + robustness guidance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9" name="Rounded Rectangle 21"/>
          <p:cNvSpPr/>
          <p:nvPr/>
        </p:nvSpPr>
        <p:spPr>
          <a:xfrm>
            <a:off x="2833200" y="416880"/>
            <a:ext cx="1196640" cy="520560"/>
          </a:xfrm>
          <a:prstGeom prst="roundRect">
            <a:avLst>
              <a:gd name="adj" fmla="val 16000"/>
            </a:avLst>
          </a:prstGeom>
          <a:solidFill>
            <a:srgbClr val="d7e3f2"/>
          </a:solidFill>
          <a:ln w="16510">
            <a:solidFill>
              <a:srgbClr val="2c3e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frozen GNN</a:t>
            </a:r>
            <a:endParaRPr b="0" lang="en-US" sz="9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encoder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0" name="TextBox 22"/>
          <p:cNvSpPr/>
          <p:nvPr/>
        </p:nvSpPr>
        <p:spPr>
          <a:xfrm>
            <a:off x="2883240" y="1013040"/>
            <a:ext cx="109656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⇒ </a:t>
            </a: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conditioning z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1" name="Connector 23"/>
          <p:cNvSpPr/>
          <p:nvPr/>
        </p:nvSpPr>
        <p:spPr>
          <a:xfrm>
            <a:off x="4030560" y="677520"/>
            <a:ext cx="632520" cy="0"/>
          </a:xfrm>
          <a:prstGeom prst="line">
            <a:avLst/>
          </a:prstGeom>
          <a:ln w="17780">
            <a:solidFill>
              <a:srgbClr val="2c3e6b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2" name="Oval 24"/>
          <p:cNvSpPr/>
          <p:nvPr/>
        </p:nvSpPr>
        <p:spPr>
          <a:xfrm>
            <a:off x="4663080" y="467280"/>
            <a:ext cx="419760" cy="41976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xT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3" name="Connector 25"/>
          <p:cNvSpPr/>
          <p:nvPr/>
        </p:nvSpPr>
        <p:spPr>
          <a:xfrm>
            <a:off x="5082840" y="685800"/>
            <a:ext cx="245520" cy="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4" name="Oval 26"/>
          <p:cNvSpPr/>
          <p:nvPr/>
        </p:nvSpPr>
        <p:spPr>
          <a:xfrm>
            <a:off x="5328360" y="467280"/>
            <a:ext cx="419760" cy="41976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xt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5" name="Connector 27"/>
          <p:cNvSpPr/>
          <p:nvPr/>
        </p:nvSpPr>
        <p:spPr>
          <a:xfrm>
            <a:off x="5748120" y="685800"/>
            <a:ext cx="245160" cy="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6" name="Oval 28"/>
          <p:cNvSpPr/>
          <p:nvPr/>
        </p:nvSpPr>
        <p:spPr>
          <a:xfrm>
            <a:off x="5993280" y="467280"/>
            <a:ext cx="419760" cy="41976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⋯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7" name="Connector 29"/>
          <p:cNvSpPr/>
          <p:nvPr/>
        </p:nvSpPr>
        <p:spPr>
          <a:xfrm>
            <a:off x="6413040" y="685800"/>
            <a:ext cx="245520" cy="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8" name="Oval 30"/>
          <p:cNvSpPr/>
          <p:nvPr/>
        </p:nvSpPr>
        <p:spPr>
          <a:xfrm>
            <a:off x="6658560" y="467280"/>
            <a:ext cx="419760" cy="41976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x0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69" name="Rounded Rectangle 31"/>
          <p:cNvSpPr/>
          <p:nvPr/>
        </p:nvSpPr>
        <p:spPr>
          <a:xfrm>
            <a:off x="3886200" y="1146600"/>
            <a:ext cx="3247920" cy="312120"/>
          </a:xfrm>
          <a:prstGeom prst="roundRect">
            <a:avLst>
              <a:gd name="adj" fmla="val 16000"/>
            </a:avLst>
          </a:prstGeom>
          <a:solidFill>
            <a:srgbClr val="fbe2df"/>
          </a:solidFill>
          <a:ln w="17780">
            <a:solidFill>
              <a:srgbClr val="c97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differentiable STL robustness ∇ρ (STLCG) steers sampling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70" name="Connector 32"/>
          <p:cNvSpPr/>
          <p:nvPr/>
        </p:nvSpPr>
        <p:spPr>
          <a:xfrm flipV="1">
            <a:off x="487296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" name="Connector 33"/>
          <p:cNvSpPr/>
          <p:nvPr/>
        </p:nvSpPr>
        <p:spPr>
          <a:xfrm flipV="1">
            <a:off x="553824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2" name="Connector 34"/>
          <p:cNvSpPr/>
          <p:nvPr/>
        </p:nvSpPr>
        <p:spPr>
          <a:xfrm flipV="1">
            <a:off x="620352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3" name="Rounded Rectangle 35"/>
          <p:cNvSpPr/>
          <p:nvPr/>
        </p:nvSpPr>
        <p:spPr>
          <a:xfrm>
            <a:off x="2833200" y="1641960"/>
            <a:ext cx="1506960" cy="39024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operator normalization</a:t>
            </a:r>
            <a:endParaRPr b="0" lang="en-US" sz="9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→</a:t>
            </a: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,↔ ⇒ basis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74" name="Rounded Rectangle 36"/>
          <p:cNvSpPr/>
          <p:nvPr/>
        </p:nvSpPr>
        <p:spPr>
          <a:xfrm>
            <a:off x="4452120" y="1641960"/>
            <a:ext cx="1063800" cy="39024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nested-tree</a:t>
            </a:r>
            <a:endParaRPr b="0" lang="en-US" sz="9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decomposition</a:t>
            </a:r>
            <a:endParaRPr b="0" lang="en-US" sz="900" spc="-1" strike="noStrike">
              <a:latin typeface="Times New Roman"/>
            </a:endParaRPr>
          </a:p>
        </p:txBody>
      </p:sp>
      <p:sp>
        <p:nvSpPr>
          <p:cNvPr id="75" name="Rounded Rectangle 37"/>
          <p:cNvSpPr/>
          <p:nvPr/>
        </p:nvSpPr>
        <p:spPr>
          <a:xfrm>
            <a:off x="5627160" y="1641960"/>
            <a:ext cx="1506960" cy="39024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feasibility self-check</a:t>
            </a:r>
            <a:endParaRPr b="0" lang="en-US" sz="9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→ </a:t>
            </a: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A* if OOD</a:t>
            </a:r>
            <a:endParaRPr b="0" lang="en-US" sz="900" spc="-1" strike="noStrike">
              <a:latin typeface="Times New Roman"/>
            </a:endParaRPr>
          </a:p>
        </p:txBody>
      </p:sp>
      <p:pic>
        <p:nvPicPr>
          <p:cNvPr id="76" name="Picture 38" descr="b_formula.png"/>
          <p:cNvPicPr/>
          <p:nvPr/>
        </p:nvPicPr>
        <p:blipFill>
          <a:blip r:embed="rId1"/>
          <a:stretch/>
        </p:blipFill>
        <p:spPr>
          <a:xfrm>
            <a:off x="3017520" y="2278440"/>
            <a:ext cx="3976920" cy="235800"/>
          </a:xfrm>
          <a:prstGeom prst="rect">
            <a:avLst/>
          </a:prstGeom>
          <a:ln w="0">
            <a:noFill/>
          </a:ln>
        </p:spPr>
      </p:pic>
      <p:sp>
        <p:nvSpPr>
          <p:cNvPr id="77" name="TextBox 39"/>
          <p:cNvSpPr/>
          <p:nvPr/>
        </p:nvSpPr>
        <p:spPr>
          <a:xfrm>
            <a:off x="7360920" y="116640"/>
            <a:ext cx="45712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(c) TeLoGraF plan (no A*)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78" name="Picture 40" descr="c_plot.png"/>
          <p:cNvPicPr/>
          <p:nvPr/>
        </p:nvPicPr>
        <p:blipFill>
          <a:blip r:embed="rId2"/>
          <a:stretch/>
        </p:blipFill>
        <p:spPr>
          <a:xfrm>
            <a:off x="7379280" y="402480"/>
            <a:ext cx="2740320" cy="2102400"/>
          </a:xfrm>
          <a:prstGeom prst="rect">
            <a:avLst/>
          </a:prstGeom>
          <a:ln w="0">
            <a:noFill/>
          </a:ln>
        </p:spPr>
      </p:pic>
      <p:sp>
        <p:nvSpPr>
          <p:cNvPr id="79" name="TextBox 41"/>
          <p:cNvSpPr/>
          <p:nvPr/>
        </p:nvSpPr>
        <p:spPr>
          <a:xfrm>
            <a:off x="10287000" y="502920"/>
            <a:ext cx="187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i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NL: “Reach the goal within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70 seconds while always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keeping safe from every</a:t>
            </a:r>
            <a:endParaRPr b="0" lang="en-US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obstacle.”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80" name="Picture 42" descr="c_stl.png"/>
          <p:cNvPicPr/>
          <p:nvPr/>
        </p:nvPicPr>
        <p:blipFill>
          <a:blip r:embed="rId3"/>
          <a:stretch/>
        </p:blipFill>
        <p:spPr>
          <a:xfrm>
            <a:off x="10287000" y="1417320"/>
            <a:ext cx="1782360" cy="192600"/>
          </a:xfrm>
          <a:prstGeom prst="rect">
            <a:avLst/>
          </a:prstGeom>
          <a:ln w="0">
            <a:noFill/>
          </a:ln>
        </p:spPr>
      </p:pic>
      <p:sp>
        <p:nvSpPr>
          <p:cNvPr id="81" name="TextBox 43"/>
          <p:cNvSpPr/>
          <p:nvPr/>
        </p:nvSpPr>
        <p:spPr>
          <a:xfrm>
            <a:off x="10287000" y="1824120"/>
            <a:ext cx="191952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16213a"/>
                </a:solidFill>
                <a:latin typeface="Times New Roman"/>
                <a:ea typeface="DejaVu Sans"/>
              </a:rPr>
              <a:t>exec 53 s + 4 s plan (in time)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82" name="Picture 44" descr="c_rho.png"/>
          <p:cNvPicPr/>
          <p:nvPr/>
        </p:nvPicPr>
        <p:blipFill>
          <a:blip r:embed="rId4"/>
          <a:stretch/>
        </p:blipFill>
        <p:spPr>
          <a:xfrm>
            <a:off x="10287000" y="2057400"/>
            <a:ext cx="1828080" cy="183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2026-06-07T04:18:49Z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