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2188825" cy="2606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5E1221D-2675-4D88-95AC-BCB57AAEC0B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120" y="103680"/>
            <a:ext cx="10969560" cy="43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609120" y="609480"/>
            <a:ext cx="10969560" cy="151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50B0ECF-61CA-40B5-A9D2-A7FEE7E9109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120" y="103680"/>
            <a:ext cx="10969560" cy="43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609120" y="609480"/>
            <a:ext cx="10969560" cy="151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E339456-4EF5-4DAA-AC47-238A0194A59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120" y="103680"/>
            <a:ext cx="10969560" cy="43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120" y="609480"/>
            <a:ext cx="5352840" cy="151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6230160" y="609480"/>
            <a:ext cx="5352840" cy="151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0A5CC84-3A63-4ADB-B25D-B7A287E9B6B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120" y="103680"/>
            <a:ext cx="10969560" cy="43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ED5C607-7FDE-4269-AEE4-C6773EECFB0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609120" y="103680"/>
            <a:ext cx="10969560" cy="2015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276B4C4-0BBC-4623-B035-0CF89EBE40E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120" y="103680"/>
            <a:ext cx="10969560" cy="43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120" y="609480"/>
            <a:ext cx="535284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6230160" y="609480"/>
            <a:ext cx="5352840" cy="151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609120" y="1398600"/>
            <a:ext cx="535284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6D44EDB-467E-4252-80FA-E9BF03C29F7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120" y="103680"/>
            <a:ext cx="10969560" cy="43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09120" y="609480"/>
            <a:ext cx="5352840" cy="151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6230160" y="609480"/>
            <a:ext cx="535284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230160" y="1398600"/>
            <a:ext cx="535284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D197AF2-50EC-4CDC-BEB3-7562C1ADD6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120" y="103680"/>
            <a:ext cx="10969560" cy="43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09120" y="609480"/>
            <a:ext cx="535284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6230160" y="609480"/>
            <a:ext cx="535284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609120" y="1398600"/>
            <a:ext cx="1096956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93CF52C-AD91-48BB-AE63-F50AE3105B1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09120" y="103680"/>
            <a:ext cx="10969560" cy="43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09120" y="609480"/>
            <a:ext cx="1096956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609120" y="1398600"/>
            <a:ext cx="1096956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E9FBE96-8D4F-4E1C-9EAC-5CCF0BE63F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120" y="103680"/>
            <a:ext cx="10969560" cy="43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120" y="609480"/>
            <a:ext cx="535284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0160" y="609480"/>
            <a:ext cx="535284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120" y="1398600"/>
            <a:ext cx="535284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6230160" y="1398600"/>
            <a:ext cx="535284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4762831-2E84-48BA-B89B-0E6FB445601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609120" y="103680"/>
            <a:ext cx="10969560" cy="43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609120" y="609480"/>
            <a:ext cx="353196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4318200" y="609480"/>
            <a:ext cx="353196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8026920" y="609480"/>
            <a:ext cx="353196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609120" y="1398600"/>
            <a:ext cx="353196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4318200" y="1398600"/>
            <a:ext cx="353196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8026920" y="1398600"/>
            <a:ext cx="3531960" cy="7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49B3877-C91C-4ABE-8ACC-5870A1E38A0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FEB6382-BA72-4AC1-B068-59A5AAABE2B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1"/>
          <p:cNvSpPr/>
          <p:nvPr/>
        </p:nvSpPr>
        <p:spPr>
          <a:xfrm>
            <a:off x="91440" y="116640"/>
            <a:ext cx="24685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6213a"/>
                </a:solidFill>
                <a:latin typeface="Times New Roman"/>
              </a:rPr>
              <a:t>(a) Nested STL spec</a:t>
            </a:r>
            <a:endParaRPr b="0" lang="en-US" sz="1100" spc="-1" strike="noStrike">
              <a:latin typeface="Times New Roman"/>
            </a:endParaRPr>
          </a:p>
        </p:txBody>
      </p:sp>
      <p:sp>
        <p:nvSpPr>
          <p:cNvPr id="40" name="Connector 2"/>
          <p:cNvSpPr/>
          <p:nvPr/>
        </p:nvSpPr>
        <p:spPr>
          <a:xfrm flipH="1">
            <a:off x="723960" y="927360"/>
            <a:ext cx="606240" cy="47556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1" name="Connector 3"/>
          <p:cNvSpPr/>
          <p:nvPr/>
        </p:nvSpPr>
        <p:spPr>
          <a:xfrm>
            <a:off x="723960" y="1402920"/>
            <a:ext cx="360" cy="51192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2" name="Connector 4"/>
          <p:cNvSpPr/>
          <p:nvPr/>
        </p:nvSpPr>
        <p:spPr>
          <a:xfrm>
            <a:off x="1330200" y="927360"/>
            <a:ext cx="360" cy="47556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3" name="Connector 5"/>
          <p:cNvSpPr/>
          <p:nvPr/>
        </p:nvSpPr>
        <p:spPr>
          <a:xfrm>
            <a:off x="1330200" y="1402920"/>
            <a:ext cx="360" cy="40212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4" name="Connector 6"/>
          <p:cNvSpPr/>
          <p:nvPr/>
        </p:nvSpPr>
        <p:spPr>
          <a:xfrm>
            <a:off x="1330200" y="1805040"/>
            <a:ext cx="360" cy="40248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5" name="Connector 7"/>
          <p:cNvSpPr/>
          <p:nvPr/>
        </p:nvSpPr>
        <p:spPr>
          <a:xfrm>
            <a:off x="1330200" y="927360"/>
            <a:ext cx="653040" cy="47556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6" name="Connector 8"/>
          <p:cNvSpPr/>
          <p:nvPr/>
        </p:nvSpPr>
        <p:spPr>
          <a:xfrm>
            <a:off x="1983240" y="1402920"/>
            <a:ext cx="360" cy="40212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7" name="Connector 9"/>
          <p:cNvSpPr/>
          <p:nvPr/>
        </p:nvSpPr>
        <p:spPr>
          <a:xfrm>
            <a:off x="1983240" y="1805040"/>
            <a:ext cx="360" cy="402480"/>
          </a:xfrm>
          <a:prstGeom prst="line">
            <a:avLst/>
          </a:prstGeom>
          <a:ln w="13970">
            <a:solidFill>
              <a:srgbClr val="888888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8" name="Oval 10"/>
          <p:cNvSpPr/>
          <p:nvPr/>
        </p:nvSpPr>
        <p:spPr>
          <a:xfrm>
            <a:off x="1147680" y="744480"/>
            <a:ext cx="365400" cy="365400"/>
          </a:xfrm>
          <a:prstGeom prst="ellipse">
            <a:avLst/>
          </a:prstGeom>
          <a:solidFill>
            <a:srgbClr val="d7e3f2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∧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49" name="Oval 11"/>
          <p:cNvSpPr/>
          <p:nvPr/>
        </p:nvSpPr>
        <p:spPr>
          <a:xfrm>
            <a:off x="541440" y="1220040"/>
            <a:ext cx="365400" cy="365400"/>
          </a:xfrm>
          <a:prstGeom prst="ellipse">
            <a:avLst/>
          </a:prstGeom>
          <a:solidFill>
            <a:srgbClr val="d7e3f2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F[a,b]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50" name="Oval 12"/>
          <p:cNvSpPr/>
          <p:nvPr/>
        </p:nvSpPr>
        <p:spPr>
          <a:xfrm>
            <a:off x="541440" y="1732320"/>
            <a:ext cx="365400" cy="3654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ffffff"/>
                </a:solidFill>
                <a:latin typeface="Times New Roman"/>
              </a:rPr>
              <a:t>reach g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51" name="Oval 13"/>
          <p:cNvSpPr/>
          <p:nvPr/>
        </p:nvSpPr>
        <p:spPr>
          <a:xfrm>
            <a:off x="1147680" y="1220040"/>
            <a:ext cx="365400" cy="365400"/>
          </a:xfrm>
          <a:prstGeom prst="ellipse">
            <a:avLst/>
          </a:prstGeom>
          <a:solidFill>
            <a:srgbClr val="d7e3f2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G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52" name="Oval 14"/>
          <p:cNvSpPr/>
          <p:nvPr/>
        </p:nvSpPr>
        <p:spPr>
          <a:xfrm>
            <a:off x="1147680" y="1622520"/>
            <a:ext cx="365400" cy="365400"/>
          </a:xfrm>
          <a:prstGeom prst="ellipse">
            <a:avLst/>
          </a:prstGeom>
          <a:solidFill>
            <a:srgbClr val="e3e6ea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¬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53" name="Oval 15"/>
          <p:cNvSpPr/>
          <p:nvPr/>
        </p:nvSpPr>
        <p:spPr>
          <a:xfrm>
            <a:off x="1147680" y="2024640"/>
            <a:ext cx="365400" cy="365400"/>
          </a:xfrm>
          <a:prstGeom prst="ellipse">
            <a:avLst/>
          </a:prstGeom>
          <a:solidFill>
            <a:srgbClr val="5b6675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ffffff"/>
                </a:solidFill>
                <a:latin typeface="Times New Roman"/>
              </a:rPr>
              <a:t>avoid o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54" name="Oval 16"/>
          <p:cNvSpPr/>
          <p:nvPr/>
        </p:nvSpPr>
        <p:spPr>
          <a:xfrm>
            <a:off x="1800360" y="1220040"/>
            <a:ext cx="365400" cy="365400"/>
          </a:xfrm>
          <a:prstGeom prst="ellipse">
            <a:avLst/>
          </a:prstGeom>
          <a:solidFill>
            <a:srgbClr val="d7e3f2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G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55" name="Oval 17"/>
          <p:cNvSpPr/>
          <p:nvPr/>
        </p:nvSpPr>
        <p:spPr>
          <a:xfrm>
            <a:off x="1800360" y="1622520"/>
            <a:ext cx="365400" cy="365400"/>
          </a:xfrm>
          <a:prstGeom prst="ellipse">
            <a:avLst/>
          </a:prstGeom>
          <a:solidFill>
            <a:srgbClr val="e3e6ea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¬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56" name="Oval 18"/>
          <p:cNvSpPr/>
          <p:nvPr/>
        </p:nvSpPr>
        <p:spPr>
          <a:xfrm>
            <a:off x="1800360" y="2024640"/>
            <a:ext cx="365400" cy="365400"/>
          </a:xfrm>
          <a:prstGeom prst="ellipse">
            <a:avLst/>
          </a:prstGeom>
          <a:solidFill>
            <a:srgbClr val="5b6675"/>
          </a:solidFill>
          <a:ln w="12700">
            <a:solidFill>
              <a:srgbClr val="33333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ffffff"/>
                </a:solidFill>
                <a:latin typeface="Times New Roman"/>
              </a:rPr>
              <a:t>unsafe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57" name="TextBox 19"/>
          <p:cNvSpPr/>
          <p:nvPr/>
        </p:nvSpPr>
        <p:spPr>
          <a:xfrm>
            <a:off x="228600" y="421200"/>
            <a:ext cx="2468520" cy="12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keep-safe = G ¬ unsafe, grounded by sensed disks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8" name="TextBox 20"/>
          <p:cNvSpPr/>
          <p:nvPr/>
        </p:nvSpPr>
        <p:spPr>
          <a:xfrm>
            <a:off x="2788920" y="116640"/>
            <a:ext cx="443448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6213a"/>
                </a:solidFill>
                <a:latin typeface="Times New Roman"/>
              </a:rPr>
              <a:t>(b) Frozen flow-matching planner + robustness guidance</a:t>
            </a:r>
            <a:endParaRPr b="0" lang="en-US" sz="1100" spc="-1" strike="noStrike">
              <a:latin typeface="Times New Roman"/>
            </a:endParaRPr>
          </a:p>
        </p:txBody>
      </p:sp>
      <p:sp>
        <p:nvSpPr>
          <p:cNvPr id="59" name="Rounded Rectangle 21"/>
          <p:cNvSpPr/>
          <p:nvPr/>
        </p:nvSpPr>
        <p:spPr>
          <a:xfrm>
            <a:off x="2833200" y="416880"/>
            <a:ext cx="1197000" cy="520920"/>
          </a:xfrm>
          <a:prstGeom prst="roundRect">
            <a:avLst>
              <a:gd name="adj" fmla="val 16000"/>
            </a:avLst>
          </a:prstGeom>
          <a:solidFill>
            <a:srgbClr val="d7e3f2"/>
          </a:solidFill>
          <a:ln w="16510">
            <a:solidFill>
              <a:srgbClr val="2c3e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600" rIns="12600" tIns="12600" bIns="126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frozen GNN</a:t>
            </a:r>
            <a:endParaRPr b="0" lang="en-US" sz="800" spc="-1" strike="noStrike">
              <a:latin typeface="Times New Roman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encoder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60" name="TextBox 22"/>
          <p:cNvSpPr/>
          <p:nvPr/>
        </p:nvSpPr>
        <p:spPr>
          <a:xfrm>
            <a:off x="2883240" y="1020600"/>
            <a:ext cx="1096920" cy="12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⇒ </a:t>
            </a: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conditioning z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61" name="Connector 23"/>
          <p:cNvSpPr/>
          <p:nvPr/>
        </p:nvSpPr>
        <p:spPr>
          <a:xfrm>
            <a:off x="4030560" y="677520"/>
            <a:ext cx="594360" cy="360"/>
          </a:xfrm>
          <a:prstGeom prst="line">
            <a:avLst/>
          </a:prstGeom>
          <a:ln w="17780">
            <a:solidFill>
              <a:srgbClr val="2c3e6b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62" name="Oval 24"/>
          <p:cNvSpPr/>
          <p:nvPr/>
        </p:nvSpPr>
        <p:spPr>
          <a:xfrm>
            <a:off x="4663080" y="467280"/>
            <a:ext cx="420120" cy="420120"/>
          </a:xfrm>
          <a:prstGeom prst="ellipse">
            <a:avLst/>
          </a:prstGeom>
          <a:solidFill>
            <a:srgbClr val="cfe0d2"/>
          </a:solidFill>
          <a:ln w="16510">
            <a:solidFill>
              <a:srgbClr val="4f9e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xT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63" name="Connector 25"/>
          <p:cNvSpPr/>
          <p:nvPr/>
        </p:nvSpPr>
        <p:spPr>
          <a:xfrm>
            <a:off x="5139360" y="677520"/>
            <a:ext cx="132840" cy="360"/>
          </a:xfrm>
          <a:prstGeom prst="line">
            <a:avLst/>
          </a:prstGeom>
          <a:ln w="16510">
            <a:solidFill>
              <a:srgbClr val="4f9e74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64" name="Oval 26"/>
          <p:cNvSpPr/>
          <p:nvPr/>
        </p:nvSpPr>
        <p:spPr>
          <a:xfrm>
            <a:off x="5328360" y="467280"/>
            <a:ext cx="420120" cy="420120"/>
          </a:xfrm>
          <a:prstGeom prst="ellipse">
            <a:avLst/>
          </a:prstGeom>
          <a:solidFill>
            <a:srgbClr val="cfe0d2"/>
          </a:solidFill>
          <a:ln w="16510">
            <a:solidFill>
              <a:srgbClr val="4f9e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xt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65" name="Connector 27"/>
          <p:cNvSpPr/>
          <p:nvPr/>
        </p:nvSpPr>
        <p:spPr>
          <a:xfrm>
            <a:off x="5804280" y="677520"/>
            <a:ext cx="133200" cy="360"/>
          </a:xfrm>
          <a:prstGeom prst="line">
            <a:avLst/>
          </a:prstGeom>
          <a:ln w="16510">
            <a:solidFill>
              <a:srgbClr val="4f9e74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66" name="Oval 28"/>
          <p:cNvSpPr/>
          <p:nvPr/>
        </p:nvSpPr>
        <p:spPr>
          <a:xfrm>
            <a:off x="5993280" y="467280"/>
            <a:ext cx="420120" cy="420120"/>
          </a:xfrm>
          <a:prstGeom prst="ellipse">
            <a:avLst/>
          </a:prstGeom>
          <a:solidFill>
            <a:srgbClr val="cfe0d2"/>
          </a:solidFill>
          <a:ln w="16510">
            <a:solidFill>
              <a:srgbClr val="4f9e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⋯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67" name="Connector 29"/>
          <p:cNvSpPr/>
          <p:nvPr/>
        </p:nvSpPr>
        <p:spPr>
          <a:xfrm>
            <a:off x="6469560" y="677520"/>
            <a:ext cx="133200" cy="360"/>
          </a:xfrm>
          <a:prstGeom prst="line">
            <a:avLst/>
          </a:prstGeom>
          <a:ln w="16510">
            <a:solidFill>
              <a:srgbClr val="4f9e74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68" name="Oval 30"/>
          <p:cNvSpPr/>
          <p:nvPr/>
        </p:nvSpPr>
        <p:spPr>
          <a:xfrm>
            <a:off x="6658560" y="467280"/>
            <a:ext cx="420120" cy="420120"/>
          </a:xfrm>
          <a:prstGeom prst="ellipse">
            <a:avLst/>
          </a:prstGeom>
          <a:solidFill>
            <a:srgbClr val="cfe0d2"/>
          </a:solidFill>
          <a:ln w="16510">
            <a:solidFill>
              <a:srgbClr val="4f9e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x0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69" name="Rounded Rectangle 31"/>
          <p:cNvSpPr/>
          <p:nvPr/>
        </p:nvSpPr>
        <p:spPr>
          <a:xfrm>
            <a:off x="4252320" y="1146600"/>
            <a:ext cx="2882160" cy="312480"/>
          </a:xfrm>
          <a:prstGeom prst="roundRect">
            <a:avLst>
              <a:gd name="adj" fmla="val 16000"/>
            </a:avLst>
          </a:prstGeom>
          <a:solidFill>
            <a:srgbClr val="fbe2df"/>
          </a:solidFill>
          <a:ln w="17780">
            <a:solidFill>
              <a:srgbClr val="c97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600" rIns="12600" tIns="12600" bIns="126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differentiable STL robustness ∇ρ (STLCG) steers sampling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70" name="Connector 32"/>
          <p:cNvSpPr/>
          <p:nvPr/>
        </p:nvSpPr>
        <p:spPr>
          <a:xfrm flipV="1">
            <a:off x="4872960" y="887760"/>
            <a:ext cx="360" cy="258840"/>
          </a:xfrm>
          <a:prstGeom prst="line">
            <a:avLst/>
          </a:prstGeom>
          <a:ln w="15240">
            <a:solidFill>
              <a:srgbClr val="c97a6a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71" name="Connector 33"/>
          <p:cNvSpPr/>
          <p:nvPr/>
        </p:nvSpPr>
        <p:spPr>
          <a:xfrm flipV="1">
            <a:off x="5538240" y="887760"/>
            <a:ext cx="360" cy="258840"/>
          </a:xfrm>
          <a:prstGeom prst="line">
            <a:avLst/>
          </a:prstGeom>
          <a:ln w="15240">
            <a:solidFill>
              <a:srgbClr val="c97a6a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72" name="Connector 34"/>
          <p:cNvSpPr/>
          <p:nvPr/>
        </p:nvSpPr>
        <p:spPr>
          <a:xfrm flipV="1">
            <a:off x="6203520" y="887760"/>
            <a:ext cx="360" cy="258840"/>
          </a:xfrm>
          <a:prstGeom prst="line">
            <a:avLst/>
          </a:prstGeom>
          <a:ln w="15240">
            <a:solidFill>
              <a:srgbClr val="c97a6a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73" name="Rounded Rectangle 35"/>
          <p:cNvSpPr/>
          <p:nvPr/>
        </p:nvSpPr>
        <p:spPr>
          <a:xfrm>
            <a:off x="2833200" y="1641960"/>
            <a:ext cx="1507320" cy="390600"/>
          </a:xfrm>
          <a:prstGeom prst="roundRect">
            <a:avLst>
              <a:gd name="adj" fmla="val 16000"/>
            </a:avLst>
          </a:prstGeom>
          <a:solidFill>
            <a:srgbClr val="fff4d6"/>
          </a:solidFill>
          <a:ln w="15240">
            <a:solidFill>
              <a:srgbClr val="b886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600" rIns="12600" tIns="12600" bIns="126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operator normalization</a:t>
            </a:r>
            <a:endParaRPr b="0" lang="en-US" sz="800" spc="-1" strike="noStrike">
              <a:latin typeface="Times New Roman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→</a:t>
            </a: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,↔ ⇒ basis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74" name="Rounded Rectangle 36"/>
          <p:cNvSpPr/>
          <p:nvPr/>
        </p:nvSpPr>
        <p:spPr>
          <a:xfrm>
            <a:off x="4452120" y="1641960"/>
            <a:ext cx="1064160" cy="390600"/>
          </a:xfrm>
          <a:prstGeom prst="roundRect">
            <a:avLst>
              <a:gd name="adj" fmla="val 16000"/>
            </a:avLst>
          </a:prstGeom>
          <a:solidFill>
            <a:srgbClr val="fff4d6"/>
          </a:solidFill>
          <a:ln w="15240">
            <a:solidFill>
              <a:srgbClr val="b886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600" rIns="12600" tIns="12600" bIns="126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nested-tree</a:t>
            </a:r>
            <a:endParaRPr b="0" lang="en-US" sz="800" spc="-1" strike="noStrike">
              <a:latin typeface="Times New Roman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decomposition</a:t>
            </a:r>
            <a:endParaRPr b="0" lang="en-US" sz="800" spc="-1" strike="noStrike">
              <a:latin typeface="Times New Roman"/>
            </a:endParaRPr>
          </a:p>
        </p:txBody>
      </p:sp>
      <p:sp>
        <p:nvSpPr>
          <p:cNvPr id="75" name="Rounded Rectangle 37"/>
          <p:cNvSpPr/>
          <p:nvPr/>
        </p:nvSpPr>
        <p:spPr>
          <a:xfrm>
            <a:off x="5627160" y="1641960"/>
            <a:ext cx="1507320" cy="390600"/>
          </a:xfrm>
          <a:prstGeom prst="roundRect">
            <a:avLst>
              <a:gd name="adj" fmla="val 16000"/>
            </a:avLst>
          </a:prstGeom>
          <a:solidFill>
            <a:srgbClr val="fff4d6"/>
          </a:solidFill>
          <a:ln w="15240">
            <a:solidFill>
              <a:srgbClr val="b886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600" rIns="12600" tIns="12600" bIns="126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feasibility self-check</a:t>
            </a:r>
            <a:endParaRPr b="0" lang="en-US" sz="800" spc="-1" strike="noStrike">
              <a:latin typeface="Times New Roman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→ </a:t>
            </a: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A* if OOD</a:t>
            </a:r>
            <a:endParaRPr b="0" lang="en-US" sz="800" spc="-1" strike="noStrike">
              <a:latin typeface="Times New Roman"/>
            </a:endParaRPr>
          </a:p>
        </p:txBody>
      </p:sp>
      <p:pic>
        <p:nvPicPr>
          <p:cNvPr id="76" name="Picture 38" descr="b_formula.png"/>
          <p:cNvPicPr/>
          <p:nvPr/>
        </p:nvPicPr>
        <p:blipFill>
          <a:blip r:embed="rId1"/>
          <a:stretch/>
        </p:blipFill>
        <p:spPr>
          <a:xfrm>
            <a:off x="3017520" y="2278440"/>
            <a:ext cx="3977280" cy="236160"/>
          </a:xfrm>
          <a:prstGeom prst="rect">
            <a:avLst/>
          </a:prstGeom>
          <a:ln w="0">
            <a:noFill/>
          </a:ln>
        </p:spPr>
      </p:pic>
      <p:sp>
        <p:nvSpPr>
          <p:cNvPr id="77" name="TextBox 39"/>
          <p:cNvSpPr/>
          <p:nvPr/>
        </p:nvSpPr>
        <p:spPr>
          <a:xfrm>
            <a:off x="7360920" y="116640"/>
            <a:ext cx="45716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6213a"/>
                </a:solidFill>
                <a:latin typeface="Times New Roman"/>
              </a:rPr>
              <a:t>(c) TeLoGraF plan (no A*)</a:t>
            </a:r>
            <a:endParaRPr b="0" lang="en-US" sz="1100" spc="-1" strike="noStrike">
              <a:latin typeface="Times New Roman"/>
            </a:endParaRPr>
          </a:p>
        </p:txBody>
      </p:sp>
      <p:pic>
        <p:nvPicPr>
          <p:cNvPr id="78" name="Picture 40" descr="c_plot.png"/>
          <p:cNvPicPr/>
          <p:nvPr/>
        </p:nvPicPr>
        <p:blipFill>
          <a:blip r:embed="rId2"/>
          <a:stretch/>
        </p:blipFill>
        <p:spPr>
          <a:xfrm>
            <a:off x="7379280" y="402480"/>
            <a:ext cx="2740680" cy="2102760"/>
          </a:xfrm>
          <a:prstGeom prst="rect">
            <a:avLst/>
          </a:prstGeom>
          <a:ln w="0">
            <a:noFill/>
          </a:ln>
        </p:spPr>
      </p:pic>
      <p:sp>
        <p:nvSpPr>
          <p:cNvPr id="79" name="TextBox 41"/>
          <p:cNvSpPr/>
          <p:nvPr/>
        </p:nvSpPr>
        <p:spPr>
          <a:xfrm>
            <a:off x="10287000" y="502920"/>
            <a:ext cx="187416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i="1" lang="en-US" sz="800" spc="-1" strike="noStrike">
                <a:solidFill>
                  <a:srgbClr val="16213a"/>
                </a:solidFill>
                <a:latin typeface="Times New Roman"/>
              </a:rPr>
              <a:t>NL: “Reach the goal within</a:t>
            </a:r>
            <a:endParaRPr b="0" lang="en-US" sz="800" spc="-1" strike="noStrike">
              <a:latin typeface="Times New Roman"/>
            </a:endParaRPr>
          </a:p>
          <a:p>
            <a:pPr>
              <a:lnSpc>
                <a:spcPct val="100000"/>
              </a:lnSpc>
              <a:buNone/>
            </a:pPr>
            <a:r>
              <a:rPr b="1" i="1" lang="en-US" sz="800" spc="-1" strike="noStrike">
                <a:solidFill>
                  <a:srgbClr val="16213a"/>
                </a:solidFill>
                <a:latin typeface="Times New Roman"/>
              </a:rPr>
              <a:t>70 seconds while always</a:t>
            </a:r>
            <a:endParaRPr b="0" lang="en-US" sz="800" spc="-1" strike="noStrike">
              <a:latin typeface="Times New Roman"/>
            </a:endParaRPr>
          </a:p>
          <a:p>
            <a:pPr>
              <a:lnSpc>
                <a:spcPct val="100000"/>
              </a:lnSpc>
              <a:buNone/>
            </a:pPr>
            <a:r>
              <a:rPr b="1" i="1" lang="en-US" sz="800" spc="-1" strike="noStrike">
                <a:solidFill>
                  <a:srgbClr val="16213a"/>
                </a:solidFill>
                <a:latin typeface="Times New Roman"/>
              </a:rPr>
              <a:t>keeping safe from every</a:t>
            </a:r>
            <a:endParaRPr b="0" lang="en-US" sz="800" spc="-1" strike="noStrike">
              <a:latin typeface="Times New Roman"/>
            </a:endParaRPr>
          </a:p>
          <a:p>
            <a:pPr>
              <a:lnSpc>
                <a:spcPct val="100000"/>
              </a:lnSpc>
              <a:buNone/>
            </a:pPr>
            <a:r>
              <a:rPr b="1" i="1" lang="en-US" sz="800" spc="-1" strike="noStrike">
                <a:solidFill>
                  <a:srgbClr val="16213a"/>
                </a:solidFill>
                <a:latin typeface="Times New Roman"/>
              </a:rPr>
              <a:t>obstacle.”</a:t>
            </a:r>
            <a:endParaRPr b="0" lang="en-US" sz="800" spc="-1" strike="noStrike">
              <a:latin typeface="Times New Roman"/>
            </a:endParaRPr>
          </a:p>
        </p:txBody>
      </p:sp>
      <p:pic>
        <p:nvPicPr>
          <p:cNvPr id="80" name="Picture 42" descr="c_stl.png"/>
          <p:cNvPicPr/>
          <p:nvPr/>
        </p:nvPicPr>
        <p:blipFill>
          <a:blip r:embed="rId3"/>
          <a:stretch/>
        </p:blipFill>
        <p:spPr>
          <a:xfrm>
            <a:off x="10287000" y="1417320"/>
            <a:ext cx="1782720" cy="192960"/>
          </a:xfrm>
          <a:prstGeom prst="rect">
            <a:avLst/>
          </a:prstGeom>
          <a:ln w="0">
            <a:noFill/>
          </a:ln>
        </p:spPr>
      </p:pic>
      <p:sp>
        <p:nvSpPr>
          <p:cNvPr id="81" name="TextBox 43"/>
          <p:cNvSpPr/>
          <p:nvPr/>
        </p:nvSpPr>
        <p:spPr>
          <a:xfrm>
            <a:off x="10287000" y="1831320"/>
            <a:ext cx="1919880" cy="12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16213a"/>
                </a:solidFill>
                <a:latin typeface="Times New Roman"/>
              </a:rPr>
              <a:t>exec 53 s + 4 s plan (in time)</a:t>
            </a:r>
            <a:endParaRPr b="0" lang="en-US" sz="800" spc="-1" strike="noStrike">
              <a:latin typeface="Times New Roman"/>
            </a:endParaRPr>
          </a:p>
        </p:txBody>
      </p:sp>
      <p:pic>
        <p:nvPicPr>
          <p:cNvPr id="82" name="Picture 44" descr="c_rho.png"/>
          <p:cNvPicPr/>
          <p:nvPr/>
        </p:nvPicPr>
        <p:blipFill>
          <a:blip r:embed="rId4"/>
          <a:stretch/>
        </p:blipFill>
        <p:spPr>
          <a:xfrm>
            <a:off x="10287000" y="2057400"/>
            <a:ext cx="1828440" cy="183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2026-06-07T04:05:19Z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